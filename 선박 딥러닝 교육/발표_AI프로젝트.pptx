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조선해양 딥러닝 교육 과정에서 수행한 프로젝트를 발표하겠습니다.
주제는 "선박·운항 분야의 딥러닝 활용"입니다.
운항 측면에서는 Noon Report 학습 기반의 경제 운항 계획을,
선박 안전 측면에서는 CCTV 기반 위험작업 인식과 PPE·작업허가 확인을 다루었습니다.
실제 구동 화면을 중심으로 약 10분간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본 발표에서 말하는 딥러닝의 정의를 짚고 가겠습니다. 핵심은 "예시를 보고 스스로 배운다"는 것입니다.
기존 규칙 기반 프로그램은 사람이 판단 규칙을 직접 정의하고, 데이터를 넣어 결과를 얻습니다.
딥러닝은 입력 데이터와 정답 레이블을 함께 제공하면, 모델이 학습을 통해 판단 규칙을 스스로 도출합니다.
선박에 적용하면, Noon Report와 실제 연료 소모량으로 연료 소모 예측 모델을, CCTV 영상과 작업 레이블로 작업·보호구 판별 모델을 만들 수 있습니다.
오늘 소개할 두 시스템이 각각 이 두 가지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순서입니다.
첫째, Noon Report를 학습해 항로와 운항 방식별 비용을 비교하는 경제 운항 계획 시스템입니다.
둘째, CCTV 영상에서 작업 유형을 판별하고 PPE 착용과 작업허가 조건을 확인하는 위험작업 인식 시스템입니다.
마지막으로 실무 적용을 위해 추가로 확보해야 할 데이터를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주제, 경제 운항 계획입니다.
대상 선박은 LPG 운반선이자 LPG를 연료로도 사용하는 이중연료 VLGC, GAS IVORY입니다.
항차마다 파나마 운하와 희망봉 중 어느 항로를 택할지, LPG와 VLSFO 중 어떤 연료 모드로 운항할지, 어느 속력으로 갈지를 결정해야 합니다.
이 조합 중 어떤 운항이 가장 경제적인지를 데이터로 판단하는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데이터는 GAS IVORY의 Noon Report 1,022 항해일입니다. 오류 행을 정제한 뒤, 주기관 RPM, 연료 모드, 계절을 입력으로 일일 LPG·FO·MGO 소모량과 속력을 예측하도록 학습했습니다.
실제 사용 조건과 같도록 시간 순서로 분할해, 2025년 10월 이전 722일로 학습하고 이후 300일로 검증했습니다. 무작위 분할은 미래 정보를 미리 보는 셈이 되어 성능이 과대평가되기 때문입니다.
기존 방식인 평균값을 기준선으로, 선형회귀, 랜덤포레스트, XGBoost, 그리고 PyTorch 신경망 MLP를 비교했습니다.
일일 연료비 오차는 신경망이 1,596달러로 가장 작았고, 속력 오차도 0.94노트로 가장 작았습니다.
다만 총소모량 오차는 단순 평균이 더 작았습니다. 모델이 항상 우세하지는 않으므로, 목적에 맞는 지표로 모델을 선택해야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항차 계획 시스템의 구동 화면입니다. Freeport에서 Ningbo까지의 만재 항차를 예로 들었습니다.
선적항과 양하항, B/L 수량을 입력하면 파나마 운하 경유와 희망봉 경유 두 항로의 거리, 항해일수, 통행료, 연료비를 비교합니다.
연료 소모량 산정 기준을 ML 예측으로 바꾸면, 앞서 학습한 신경망 모델이 일일 소모량을 예측합니다.
여기에 16일 해상 예보를 반영해 BF 6 이상 구간은 LPG 운전이 불가한 것으로 보고 FO 운전으로 계산하고, ECA 구간의 MGO 사용량도 별도로 산정합니다.
그 결과 이 항차에서는 희망봉 경유가 더 경제적인 항로로 권고되었습니다.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주제, 위험작업 인식입니다.
밀폐구역 진입, 화기작업, 계류작업은 사고 발생 시 중대재해로 이어지는 대표적인 고위험 작업입니다.
선내 CCTV는 설치되어 있지만, 당직자가 모든 화면을 상시 감시하기는 현실적으로 어렵습니다.
따라서 "CCTV가 작업을 스스로 판별하고, PPE와 작업허가 조건 위반을 즉시 알릴 수 있는가"를 목표로 설정했습니다.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네 단계로 구성됩니다.
1단계는 객체 탐지와 추적입니다. YOLO11 모델로 작업자를 탐지하고, BoT-SORT와 ReID로 동일 인물을 지속 추적합니다.
2단계는 작업 유형 판별입니다. CLIP 모델로 영상과 작업 설명 문장의 유사도를 계산하는 Zero-shot 방식이며, 별도 학습 없이 밀폐구역, 계류, 화기작업 등을 분류합니다.
3단계는 PPE 판별입니다. 공개 보호구 데이터로 YOLO11을 전이학습했고, 자세 추정으로 머리·손목 위치를 찾아 안전모, 보안경, 장갑, 하네스 착용을 판정합니다.
4단계는 PERMIT CHECK입니다. 판별된 작업 유형에 맞춰 IMO MSC.581(110) 밀폐구역 진입 기준과 사내 규정을 적용하고, 위반 시 경보를 발생시킵니다.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밀폐구역 진입 시연입니다. 실제 구조훈련 영상에 시스템을 적용한 화면입니다.
시스템이 갑판의 맨홀을 자동으로 탐지하면 해당 구역을 ENCLOSED SPACE로 지정합니다.
작업자가 맨홀 안으로 진입해 화면에서 사라지면 탱크 진입으로 기록하고, 그 시점부터 체류 타이머가 시작됩니다.
동시에 IMO MSC.581(110) 기준의 진입 절차 확인창이 표시됩니다. 작업허가서, 환기, 격리, 가스 측정값, 감시자 배치, 구조장비 등 11개 항목을 당직자가 확인해야 진입이 승인됩니다.
가스 측정 기록이 없거나 기준을 벗어나면 해당 항목이 빨간색으로 표시되어, 당직자가 측정 여부를 다시 확인하도록 합니다.
확인되지 않으면 경보가 발생하고, 체류 30분 초과 시에는 퇴장과 가스 재측정을 요구합니다.
다만 현재 한계도 있습니다. 진입자의 공기호흡기(BA) 착용은 진입 직전 일부 구간에서만 인식되며, 맨홀 앞에 작업자가 밀집하면 옆 보조자에게 잘못 표시되기도 합니다. 마스크와 머리 끈을 직접 찾는 탐지 모델 학습으로 보완할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계류작업 시연입니다. 선수 갑판에서 윈드라스로 계류 준비를 하는 영상입니다.
시스템은 별도 구역 설정 없이 화면 전체를 분석해 작업 유형을 MOORING으로 판별했습니다.
작업 유형이 정해지면 그 작업에 맞는 PPE 기준이 자동으로 적용됩니다. 계류작업은 로프 취급에 따른 손 부상 위험이 커서, 기본 보호구에 더해 장갑 착용을 필수 조건으로 둡니다.
작업자마다 H는 안전모, G는 보안경, GL은 장갑이며, 확인되면 초록, 미착용이면 빨강, 판단이 어려우면 회색으로 표시됩니다.
이처럼 같은 카메라라도 작업 유형을 먼저 판별해야 해당 작업에 맞는 안전 기준을 적용할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 결과입니다.
작업 유형 판별은 선박 작업 영상 21개 기준으로, 직접 학습한 분류 모델이 79%, CLIP Zero-shot이 89%를 기록했습니다. 데이터가 적은 환경에서는 대규모 사전학습 모델을 활용하는 편이 유리했습니다.
안전모 판정은 모델 단독으로 작업자 기준 79%였으나, "근거리에서 머리가 충분히 보이는데 안전모가 탐지되지 않으면 미착용"이라는 현장 규칙을 결합해 96%로 향상되었습니다.
추적 ID는 ReID 적용으로 32개에서 6개로 줄어 동일 인물 식별이 안정화되었고, 밀폐구역 진입은 3회 시험 모두 정확히 1건씩 감지했습니다.
다만 공개 영상 기준의 결과이며, 실선 CCTV 환경에서의 검증이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적용을 위해 추가로 확보해야 할 데이터입니다.
경제 운항 측면에서는 첫째, 선박의 실제 운항 항로 데이터, 즉 AIS 항적이 필요합니다. 현재는 계획 항로 기준이라 실제 항로와 차이가 있습니다.
둘째, 선박의 계약 상황입니다. 용선계약상 속력·소모량 보증 조건, Laycan, 용선료에 따라 경제적인 운항의 기준 자체가 달라집니다.
이 밖에 해상 기상과 해류 데이터, 흘수·트림과 선체 오염 상태, 주기관 부하와 SFOC 같은 성능 데이터, 벙커 가격과 항만 대기시간, 그리고 CII와 EU ETS 같은 탄소 규제 비용을 반영하면 예측 정확도와 실무 활용도가 높아질 것입니다.
안전 측면에서는 실선 방폭 CCTV 영상, 전자 작업허가 시스템 연동, 승조원 식별 정보, BA와 하네스 착용 학습 데이터가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확보와 함께 추진할 시스템 고도화 방향입니다.
경제 운항 계획 시스템은 용선계약 조건을 반영한 손익 계산, 도착 시한 내 비용을 최소화하는 최적 속력 제안, CII 등급과 EU ETS 비용을 포함한 탄소비용 산정을 추가하겠습니다.
아울러 파고와 해류를 고려한 기상 라우팅, 선체 오염에 따른 성능 저하 추세 분석, 그리고 LPG 운반선 특성상 중요한 BOG 연료 사용량 예측까지 확장할 수 있습니다.
위험작업 인식 시스템은 LOTO 장비 접촉 경보, 작업자 쓰러짐과 장시간 무동작을 감지하는 Man-down 경보, 계류 시 스냅백 위험구역 진입 경보를 추가할 계획입니다.
또한 전자 작업허가 시스템과 휴대용 가스측정기를 연동해, 허가 내용과 실제 작업을 자동 대조하고 측정값을 자동 기록하도록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결론입니다.
첫째, 운항 데이터를 학습한 모델로 항로와 연료 모드별 항차 비용을 비교해, 경제적인 운항 판단을 데이터로 뒷받침할 수 있었습니다. 다만 지표에 따라 기준선이 우세한 경우도 있어, 목적에 맞는 모델 선택이 필요합니다.
둘째, 위험작업 인식에서는 데이터가 부족한 선박 현장 특성상 대규모 사전학습 모델을 활용하고, IMO 기준과 사내 규정 같은 현장 규칙을 결합할 때 실무에서 신뢰할 수 있는 수준에 도달했습니다.
셋째, 정확도의 한계는 결국 데이터입니다. 운항 항로, 계약 조건, 실선 CCTV 등 현장 데이터를 확보하는 것이 다음 단계입니다.
경청해 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870835" cy="45720"/>
          </a:xfrm>
          <a:prstGeom prst="rect">
            <a:avLst/>
          </a:prstGeom>
          <a:solidFill>
            <a:srgbClr val="1D5FD1"/>
          </a:solidFill>
          <a:ln/>
        </p:spPr>
      </p:sp>
      <p:pic>
        <p:nvPicPr>
          <p:cNvPr id="5" name="Image 0" descr="preencoded.png">    </p:cNvPr>
          <p:cNvPicPr>
            <a:picLocks noChangeAspect="1"/>
          </p:cNvPicPr>
          <p:nvPr/>
        </p:nvPicPr>
        <p:blipFill>
          <a:blip r:embed="rId1"/>
          <a:srcRect l="0" r="0" t="0" b="0"/>
          <a:stretch/>
        </p:blipFill>
        <p:spPr>
          <a:xfrm>
            <a:off x="7068312" y="0"/>
            <a:ext cx="5120640" cy="6812280"/>
          </a:xfrm>
          <a:prstGeom prst="rect">
            <a:avLst/>
          </a:prstGeom>
        </p:spPr>
      </p:pic>
      <p:sp>
        <p:nvSpPr>
          <p:cNvPr id="6" name="Text 2"/>
          <p:cNvSpPr/>
          <p:nvPr/>
        </p:nvSpPr>
        <p:spPr>
          <a:xfrm>
            <a:off x="731520" y="1554480"/>
            <a:ext cx="6035040" cy="320040"/>
          </a:xfrm>
          <a:prstGeom prst="rect">
            <a:avLst/>
          </a:prstGeom>
          <a:noFill/>
          <a:ln/>
        </p:spPr>
        <p:txBody>
          <a:bodyPr wrap="square" rtlCol="0" anchor="ctr"/>
          <a:lstStyle/>
          <a:p>
            <a:pPr indent="0" marL="0">
              <a:buNone/>
            </a:pPr>
            <a:r>
              <a:rPr lang="en-US" sz="1300" b="1" spc="100" kern="0" dirty="0">
                <a:solidFill>
                  <a:srgbClr val="1D5FD1"/>
                </a:solidFill>
                <a:latin typeface="맑은 고딕" pitchFamily="34" charset="0"/>
                <a:ea typeface="맑은 고딕" pitchFamily="34" charset="-122"/>
                <a:cs typeface="맑은 고딕" pitchFamily="34" charset="-120"/>
              </a:rPr>
              <a:t>조선해양 딥러닝 교육  |  프로젝트 발표</a:t>
            </a:r>
            <a:endParaRPr lang="en-US" sz="1300" dirty="0"/>
          </a:p>
        </p:txBody>
      </p:sp>
      <p:sp>
        <p:nvSpPr>
          <p:cNvPr id="7" name="Text 3"/>
          <p:cNvSpPr/>
          <p:nvPr/>
        </p:nvSpPr>
        <p:spPr>
          <a:xfrm>
            <a:off x="731520" y="1965960"/>
            <a:ext cx="6217920" cy="1828800"/>
          </a:xfrm>
          <a:prstGeom prst="rect">
            <a:avLst/>
          </a:prstGeom>
          <a:noFill/>
          <a:ln/>
        </p:spPr>
        <p:txBody>
          <a:bodyPr wrap="square" rtlCol="0" anchor="t"/>
          <a:lstStyle/>
          <a:p>
            <a:pPr indent="0" marL="0">
              <a:lnSpc>
                <a:spcPct val="105000"/>
              </a:lnSpc>
              <a:buNone/>
            </a:pPr>
            <a:r>
              <a:rPr lang="en-US" sz="4600" b="1" dirty="0">
                <a:solidFill>
                  <a:srgbClr val="0B1F3A"/>
                </a:solidFill>
                <a:latin typeface="맑은 고딕" pitchFamily="34" charset="0"/>
                <a:ea typeface="맑은 고딕" pitchFamily="34" charset="-122"/>
                <a:cs typeface="맑은 고딕" pitchFamily="34" charset="-120"/>
              </a:rPr>
              <a:t>선박·운항 분야의</a:t>
            </a:r>
            <a:endParaRPr lang="en-US" sz="4600" dirty="0"/>
          </a:p>
          <a:p>
            <a:pPr indent="0" marL="0">
              <a:lnSpc>
                <a:spcPct val="105000"/>
              </a:lnSpc>
              <a:buNone/>
            </a:pPr>
            <a:r>
              <a:rPr lang="en-US" sz="4600" b="1" dirty="0">
                <a:solidFill>
                  <a:srgbClr val="0B1F3A"/>
                </a:solidFill>
                <a:latin typeface="맑은 고딕" pitchFamily="34" charset="0"/>
                <a:ea typeface="맑은 고딕" pitchFamily="34" charset="-122"/>
                <a:cs typeface="맑은 고딕" pitchFamily="34" charset="-120"/>
              </a:rPr>
              <a:t>딥러닝 활용</a:t>
            </a:r>
            <a:endParaRPr lang="en-US" sz="4600" dirty="0"/>
          </a:p>
        </p:txBody>
      </p:sp>
      <p:sp>
        <p:nvSpPr>
          <p:cNvPr id="8" name="Shape 4"/>
          <p:cNvSpPr/>
          <p:nvPr/>
        </p:nvSpPr>
        <p:spPr>
          <a:xfrm>
            <a:off x="731520" y="3977640"/>
            <a:ext cx="914400" cy="0"/>
          </a:xfrm>
          <a:prstGeom prst="line">
            <a:avLst/>
          </a:prstGeom>
          <a:noFill/>
          <a:ln w="38100">
            <a:solidFill>
              <a:srgbClr val="1D5FD1"/>
            </a:solidFill>
            <a:prstDash val="solid"/>
          </a:ln>
        </p:spPr>
      </p:sp>
      <p:sp>
        <p:nvSpPr>
          <p:cNvPr id="9" name="Text 5"/>
          <p:cNvSpPr/>
          <p:nvPr/>
        </p:nvSpPr>
        <p:spPr>
          <a:xfrm>
            <a:off x="731520" y="4206240"/>
            <a:ext cx="6217920" cy="365760"/>
          </a:xfrm>
          <a:prstGeom prst="rect">
            <a:avLst/>
          </a:prstGeom>
          <a:noFill/>
          <a:ln/>
        </p:spPr>
        <p:txBody>
          <a:bodyPr wrap="square" rtlCol="0" anchor="ctr"/>
          <a:lstStyle/>
          <a:p>
            <a:pPr indent="0" marL="0">
              <a:buNone/>
            </a:pPr>
            <a:r>
              <a:rPr lang="en-US" sz="1700" b="1" dirty="0">
                <a:solidFill>
                  <a:srgbClr val="1F2937"/>
                </a:solidFill>
                <a:latin typeface="맑은 고딕" pitchFamily="34" charset="0"/>
                <a:ea typeface="맑은 고딕" pitchFamily="34" charset="-122"/>
                <a:cs typeface="맑은 고딕" pitchFamily="34" charset="-120"/>
              </a:rPr>
              <a:t>경제 운항 계획</a:t>
            </a:r>
            <a:pPr indent="0" marL="0">
              <a:buNone/>
            </a:pPr>
            <a:r>
              <a:rPr lang="en-US" sz="1700" dirty="0">
                <a:solidFill>
                  <a:srgbClr val="5B6575"/>
                </a:solidFill>
                <a:latin typeface="맑은 고딕" pitchFamily="34" charset="0"/>
                <a:ea typeface="맑은 고딕" pitchFamily="34" charset="-122"/>
                <a:cs typeface="맑은 고딕" pitchFamily="34" charset="-120"/>
              </a:rPr>
              <a:t>  항로 · 연료 모드 · 비용 최적화</a:t>
            </a:r>
            <a:endParaRPr lang="en-US" sz="1700" dirty="0"/>
          </a:p>
        </p:txBody>
      </p:sp>
      <p:sp>
        <p:nvSpPr>
          <p:cNvPr id="10" name="Text 6"/>
          <p:cNvSpPr/>
          <p:nvPr/>
        </p:nvSpPr>
        <p:spPr>
          <a:xfrm>
            <a:off x="731520" y="4617720"/>
            <a:ext cx="6217920" cy="365760"/>
          </a:xfrm>
          <a:prstGeom prst="rect">
            <a:avLst/>
          </a:prstGeom>
          <a:noFill/>
          <a:ln/>
        </p:spPr>
        <p:txBody>
          <a:bodyPr wrap="square" rtlCol="0" anchor="ctr"/>
          <a:lstStyle/>
          <a:p>
            <a:pPr indent="0" marL="0">
              <a:buNone/>
            </a:pPr>
            <a:r>
              <a:rPr lang="en-US" sz="1700" b="1" dirty="0">
                <a:solidFill>
                  <a:srgbClr val="1F2937"/>
                </a:solidFill>
                <a:latin typeface="맑은 고딕" pitchFamily="34" charset="0"/>
                <a:ea typeface="맑은 고딕" pitchFamily="34" charset="-122"/>
                <a:cs typeface="맑은 고딕" pitchFamily="34" charset="-120"/>
              </a:rPr>
              <a:t>위험작업 인식</a:t>
            </a:r>
            <a:pPr indent="0" marL="0">
              <a:buNone/>
            </a:pPr>
            <a:r>
              <a:rPr lang="en-US" sz="1700" dirty="0">
                <a:solidFill>
                  <a:srgbClr val="5B6575"/>
                </a:solidFill>
                <a:latin typeface="맑은 고딕" pitchFamily="34" charset="0"/>
                <a:ea typeface="맑은 고딕" pitchFamily="34" charset="-122"/>
                <a:cs typeface="맑은 고딕" pitchFamily="34" charset="-120"/>
              </a:rPr>
              <a:t>  PPE · PERMIT CHECK</a:t>
            </a:r>
            <a:endParaRPr lang="en-US" sz="1700" dirty="0"/>
          </a:p>
        </p:txBody>
      </p:sp>
      <p:sp>
        <p:nvSpPr>
          <p:cNvPr id="11" name="Text 7"/>
          <p:cNvSpPr/>
          <p:nvPr/>
        </p:nvSpPr>
        <p:spPr>
          <a:xfrm>
            <a:off x="731520" y="5852160"/>
            <a:ext cx="2743200" cy="274320"/>
          </a:xfrm>
          <a:prstGeom prst="rect">
            <a:avLst/>
          </a:prstGeom>
          <a:noFill/>
          <a:ln/>
        </p:spPr>
        <p:txBody>
          <a:bodyPr wrap="square" rtlCol="0" anchor="ctr"/>
          <a:lstStyle/>
          <a:p>
            <a:pPr indent="0" marL="0">
              <a:buNone/>
            </a:pPr>
            <a:r>
              <a:rPr lang="en-US" sz="1200" dirty="0">
                <a:solidFill>
                  <a:srgbClr val="8A93A3"/>
                </a:solidFill>
                <a:latin typeface="맑은 고딕" pitchFamily="34" charset="0"/>
                <a:ea typeface="맑은 고딕" pitchFamily="34" charset="-122"/>
                <a:cs typeface="맑은 고딕" pitchFamily="34" charset="-120"/>
              </a:rPr>
              <a:t>2026. 10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741671"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02 / 14</a:t>
            </a:r>
            <a:endParaRPr lang="en-US" sz="900" dirty="0"/>
          </a:p>
        </p:txBody>
      </p:sp>
      <p:sp>
        <p:nvSpPr>
          <p:cNvPr id="7" name="Text 4"/>
          <p:cNvSpPr/>
          <p:nvPr/>
        </p:nvSpPr>
        <p:spPr>
          <a:xfrm>
            <a:off x="731520" y="685800"/>
            <a:ext cx="10728655" cy="914400"/>
          </a:xfrm>
          <a:prstGeom prst="rect">
            <a:avLst/>
          </a:prstGeom>
          <a:noFill/>
          <a:ln/>
        </p:spPr>
        <p:txBody>
          <a:bodyPr wrap="square" rtlCol="0" anchor="ctr"/>
          <a:lstStyle/>
          <a:p>
            <a:pPr algn="ctr" indent="0" marL="0">
              <a:buNone/>
            </a:pPr>
            <a:r>
              <a:rPr lang="en-US" sz="4000" b="1" dirty="0">
                <a:solidFill>
                  <a:srgbClr val="0B1F3A"/>
                </a:solidFill>
                <a:latin typeface="맑은 고딕" pitchFamily="34" charset="0"/>
                <a:ea typeface="맑은 고딕" pitchFamily="34" charset="-122"/>
                <a:cs typeface="맑은 고딕" pitchFamily="34" charset="-120"/>
              </a:rPr>
              <a:t>딥러닝 = </a:t>
            </a:r>
            <a:pPr algn="ctr" indent="0" marL="0">
              <a:buNone/>
            </a:pPr>
            <a:r>
              <a:rPr lang="en-US" sz="4000" b="1" dirty="0">
                <a:solidFill>
                  <a:srgbClr val="1D5FD1"/>
                </a:solidFill>
                <a:latin typeface="맑은 고딕" pitchFamily="34" charset="0"/>
                <a:ea typeface="맑은 고딕" pitchFamily="34" charset="-122"/>
                <a:cs typeface="맑은 고딕" pitchFamily="34" charset="-120"/>
              </a:rPr>
              <a:t>예시를 보고 스스로 배우기</a:t>
            </a:r>
            <a:endParaRPr lang="en-US" sz="4000" dirty="0"/>
          </a:p>
        </p:txBody>
      </p:sp>
      <p:sp>
        <p:nvSpPr>
          <p:cNvPr id="8" name="Text 5"/>
          <p:cNvSpPr/>
          <p:nvPr/>
        </p:nvSpPr>
        <p:spPr>
          <a:xfrm>
            <a:off x="731520" y="1600200"/>
            <a:ext cx="10728655" cy="365760"/>
          </a:xfrm>
          <a:prstGeom prst="rect">
            <a:avLst/>
          </a:prstGeom>
          <a:noFill/>
          <a:ln/>
        </p:spPr>
        <p:txBody>
          <a:bodyPr wrap="square" rtlCol="0" anchor="ctr"/>
          <a:lstStyle/>
          <a:p>
            <a:pPr algn="ctr" indent="0" marL="0">
              <a:buNone/>
            </a:pPr>
            <a:r>
              <a:rPr lang="en-US" sz="1500" dirty="0">
                <a:solidFill>
                  <a:srgbClr val="5B6575"/>
                </a:solidFill>
                <a:latin typeface="맑은 고딕" pitchFamily="34" charset="0"/>
                <a:ea typeface="맑은 고딕" pitchFamily="34" charset="-122"/>
                <a:cs typeface="맑은 고딕" pitchFamily="34" charset="-120"/>
              </a:rPr>
              <a:t>규칙을 사람이 정의하는 대신, 데이터와 정답으로부터 모델이 규칙을 학습</a:t>
            </a:r>
            <a:endParaRPr lang="en-US" sz="1500" dirty="0"/>
          </a:p>
        </p:txBody>
      </p:sp>
      <p:sp>
        <p:nvSpPr>
          <p:cNvPr id="9" name="Text 6"/>
          <p:cNvSpPr/>
          <p:nvPr/>
        </p:nvSpPr>
        <p:spPr>
          <a:xfrm>
            <a:off x="731520" y="2423160"/>
            <a:ext cx="2103120" cy="777240"/>
          </a:xfrm>
          <a:prstGeom prst="rect">
            <a:avLst/>
          </a:prstGeom>
          <a:noFill/>
          <a:ln/>
        </p:spPr>
        <p:txBody>
          <a:bodyPr wrap="square" rtlCol="0" anchor="ctr"/>
          <a:lstStyle/>
          <a:p>
            <a:pPr indent="0" marL="0">
              <a:buNone/>
            </a:pPr>
            <a:r>
              <a:rPr lang="en-US" sz="1500" b="1" dirty="0">
                <a:solidFill>
                  <a:srgbClr val="5B6575"/>
                </a:solidFill>
                <a:latin typeface="맑은 고딕" pitchFamily="34" charset="0"/>
                <a:ea typeface="맑은 고딕" pitchFamily="34" charset="-122"/>
                <a:cs typeface="맑은 고딕" pitchFamily="34" charset="-120"/>
              </a:rPr>
              <a:t>규칙 기반 프로그램</a:t>
            </a:r>
            <a:endParaRPr lang="en-US" sz="1500" dirty="0"/>
          </a:p>
        </p:txBody>
      </p:sp>
      <p:sp>
        <p:nvSpPr>
          <p:cNvPr id="10" name="Text 7"/>
          <p:cNvSpPr/>
          <p:nvPr/>
        </p:nvSpPr>
        <p:spPr>
          <a:xfrm>
            <a:off x="2926080" y="2423160"/>
            <a:ext cx="2743200" cy="777240"/>
          </a:xfrm>
          <a:prstGeom prst="rect">
            <a:avLst/>
          </a:prstGeom>
          <a:solidFill>
            <a:srgbClr val="FFFFFF"/>
          </a:solidFill>
          <a:ln w="12700">
            <a:solidFill>
              <a:srgbClr val="CDD3DD"/>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입력 + 사람이 정한 규칙</a:t>
            </a:r>
            <a:endParaRPr lang="en-US" sz="1600" dirty="0"/>
          </a:p>
        </p:txBody>
      </p:sp>
      <p:sp>
        <p:nvSpPr>
          <p:cNvPr id="11" name="Text 8"/>
          <p:cNvSpPr/>
          <p:nvPr/>
        </p:nvSpPr>
        <p:spPr>
          <a:xfrm>
            <a:off x="5669280" y="242316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12" name="Text 9"/>
          <p:cNvSpPr/>
          <p:nvPr/>
        </p:nvSpPr>
        <p:spPr>
          <a:xfrm>
            <a:off x="6172200" y="2423160"/>
            <a:ext cx="2286000" cy="777240"/>
          </a:xfrm>
          <a:prstGeom prst="rect">
            <a:avLst/>
          </a:prstGeom>
          <a:solidFill>
            <a:srgbClr val="E9ECF1"/>
          </a:solidFill>
          <a:ln w="12700">
            <a:solidFill>
              <a:srgbClr val="CDD3DD"/>
            </a:solidFill>
          </a:ln>
        </p:spPr>
        <p:txBody>
          <a:bodyPr wrap="square" rtlCol="0" anchor="ctr"/>
          <a:lstStyle/>
          <a:p>
            <a:pPr algn="ctr" indent="0" marL="0">
              <a:buNone/>
            </a:pPr>
            <a:r>
              <a:rPr lang="en-US" sz="1600" b="1" dirty="0">
                <a:solidFill>
                  <a:srgbClr val="1F2937"/>
                </a:solidFill>
                <a:latin typeface="맑은 고딕" pitchFamily="34" charset="0"/>
                <a:ea typeface="맑은 고딕" pitchFamily="34" charset="-122"/>
                <a:cs typeface="맑은 고딕" pitchFamily="34" charset="-120"/>
              </a:rPr>
              <a:t>프로그램 실행</a:t>
            </a:r>
            <a:endParaRPr lang="en-US" sz="1600" dirty="0"/>
          </a:p>
        </p:txBody>
      </p:sp>
      <p:sp>
        <p:nvSpPr>
          <p:cNvPr id="13" name="Text 10"/>
          <p:cNvSpPr/>
          <p:nvPr/>
        </p:nvSpPr>
        <p:spPr>
          <a:xfrm>
            <a:off x="8458200" y="242316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14" name="Text 11"/>
          <p:cNvSpPr/>
          <p:nvPr/>
        </p:nvSpPr>
        <p:spPr>
          <a:xfrm>
            <a:off x="8961120" y="2423160"/>
            <a:ext cx="2496312" cy="777240"/>
          </a:xfrm>
          <a:prstGeom prst="rect">
            <a:avLst/>
          </a:prstGeom>
          <a:solidFill>
            <a:srgbClr val="FFFFFF"/>
          </a:solidFill>
          <a:ln w="12700">
            <a:solidFill>
              <a:srgbClr val="CDD3DD"/>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출력</a:t>
            </a:r>
            <a:endParaRPr lang="en-US" sz="1600" dirty="0"/>
          </a:p>
        </p:txBody>
      </p:sp>
      <p:sp>
        <p:nvSpPr>
          <p:cNvPr id="15" name="Text 12"/>
          <p:cNvSpPr/>
          <p:nvPr/>
        </p:nvSpPr>
        <p:spPr>
          <a:xfrm>
            <a:off x="731520" y="3429000"/>
            <a:ext cx="2103120" cy="777240"/>
          </a:xfrm>
          <a:prstGeom prst="rect">
            <a:avLst/>
          </a:prstGeom>
          <a:noFill/>
          <a:ln/>
        </p:spPr>
        <p:txBody>
          <a:bodyPr wrap="square" rtlCol="0" anchor="ctr"/>
          <a:lstStyle/>
          <a:p>
            <a:pPr indent="0" marL="0">
              <a:buNone/>
            </a:pPr>
            <a:r>
              <a:rPr lang="en-US" sz="1500" b="1" dirty="0">
                <a:solidFill>
                  <a:srgbClr val="1D5FD1"/>
                </a:solidFill>
                <a:latin typeface="맑은 고딕" pitchFamily="34" charset="0"/>
                <a:ea typeface="맑은 고딕" pitchFamily="34" charset="-122"/>
                <a:cs typeface="맑은 고딕" pitchFamily="34" charset="-120"/>
              </a:rPr>
              <a:t>딥러닝</a:t>
            </a:r>
            <a:endParaRPr lang="en-US" sz="1500" dirty="0"/>
          </a:p>
        </p:txBody>
      </p:sp>
      <p:sp>
        <p:nvSpPr>
          <p:cNvPr id="16" name="Text 13"/>
          <p:cNvSpPr/>
          <p:nvPr/>
        </p:nvSpPr>
        <p:spPr>
          <a:xfrm>
            <a:off x="2926080" y="3429000"/>
            <a:ext cx="2743200" cy="777240"/>
          </a:xfrm>
          <a:prstGeom prst="rect">
            <a:avLst/>
          </a:prstGeom>
          <a:solidFill>
            <a:srgbClr val="FFFFFF"/>
          </a:solidFill>
          <a:ln w="12700">
            <a:solidFill>
              <a:srgbClr val="1D5FD1"/>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입력 + 정답 레이블</a:t>
            </a:r>
            <a:endParaRPr lang="en-US" sz="1600" dirty="0"/>
          </a:p>
        </p:txBody>
      </p:sp>
      <p:sp>
        <p:nvSpPr>
          <p:cNvPr id="17" name="Text 14"/>
          <p:cNvSpPr/>
          <p:nvPr/>
        </p:nvSpPr>
        <p:spPr>
          <a:xfrm>
            <a:off x="5669280" y="342900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18" name="Text 15"/>
          <p:cNvSpPr/>
          <p:nvPr/>
        </p:nvSpPr>
        <p:spPr>
          <a:xfrm>
            <a:off x="6172200" y="3429000"/>
            <a:ext cx="2286000" cy="777240"/>
          </a:xfrm>
          <a:prstGeom prst="rect">
            <a:avLst/>
          </a:prstGeom>
          <a:solidFill>
            <a:srgbClr val="1D5FD1"/>
          </a:solidFill>
          <a:ln w="12700">
            <a:solidFill>
              <a:srgbClr val="1D5FD1"/>
            </a:solid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학습</a:t>
            </a:r>
            <a:endParaRPr lang="en-US" sz="1600" dirty="0"/>
          </a:p>
        </p:txBody>
      </p:sp>
      <p:sp>
        <p:nvSpPr>
          <p:cNvPr id="19" name="Text 16"/>
          <p:cNvSpPr/>
          <p:nvPr/>
        </p:nvSpPr>
        <p:spPr>
          <a:xfrm>
            <a:off x="8458200" y="342900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20" name="Text 17"/>
          <p:cNvSpPr/>
          <p:nvPr/>
        </p:nvSpPr>
        <p:spPr>
          <a:xfrm>
            <a:off x="8961120" y="3429000"/>
            <a:ext cx="2496312" cy="777240"/>
          </a:xfrm>
          <a:prstGeom prst="rect">
            <a:avLst/>
          </a:prstGeom>
          <a:solidFill>
            <a:srgbClr val="FFFFFF"/>
          </a:solidFill>
          <a:ln w="12700">
            <a:solidFill>
              <a:srgbClr val="1D5FD1"/>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모델 (판단 규칙)</a:t>
            </a:r>
            <a:endParaRPr lang="en-US" sz="1600" dirty="0"/>
          </a:p>
        </p:txBody>
      </p:sp>
      <p:sp>
        <p:nvSpPr>
          <p:cNvPr id="21" name="Shape 18"/>
          <p:cNvSpPr/>
          <p:nvPr/>
        </p:nvSpPr>
        <p:spPr>
          <a:xfrm>
            <a:off x="731520" y="4572000"/>
            <a:ext cx="10728655" cy="0"/>
          </a:xfrm>
          <a:prstGeom prst="line">
            <a:avLst/>
          </a:prstGeom>
          <a:noFill/>
          <a:ln w="12700">
            <a:solidFill>
              <a:srgbClr val="D9DEE7"/>
            </a:solidFill>
            <a:prstDash val="solid"/>
          </a:ln>
        </p:spPr>
      </p:sp>
      <p:sp>
        <p:nvSpPr>
          <p:cNvPr id="22" name="Text 19"/>
          <p:cNvSpPr/>
          <p:nvPr/>
        </p:nvSpPr>
        <p:spPr>
          <a:xfrm>
            <a:off x="731520" y="4754880"/>
            <a:ext cx="2103120" cy="365760"/>
          </a:xfrm>
          <a:prstGeom prst="rect">
            <a:avLst/>
          </a:prstGeom>
          <a:noFill/>
          <a:ln/>
        </p:spPr>
        <p:txBody>
          <a:bodyPr wrap="square" rtlCol="0" anchor="ctr"/>
          <a:lstStyle/>
          <a:p>
            <a:pPr indent="0" marL="0">
              <a:buNone/>
            </a:pPr>
            <a:r>
              <a:rPr lang="en-US" sz="1400" b="1" dirty="0">
                <a:solidFill>
                  <a:srgbClr val="5B6575"/>
                </a:solidFill>
                <a:latin typeface="맑은 고딕" pitchFamily="34" charset="0"/>
                <a:ea typeface="맑은 고딕" pitchFamily="34" charset="-122"/>
                <a:cs typeface="맑은 고딕" pitchFamily="34" charset="-120"/>
              </a:rPr>
              <a:t>선박 적용 사례</a:t>
            </a:r>
            <a:endParaRPr lang="en-US" sz="1400" dirty="0"/>
          </a:p>
        </p:txBody>
      </p:sp>
      <p:sp>
        <p:nvSpPr>
          <p:cNvPr id="23" name="Text 20"/>
          <p:cNvSpPr/>
          <p:nvPr/>
        </p:nvSpPr>
        <p:spPr>
          <a:xfrm>
            <a:off x="2926080" y="4754880"/>
            <a:ext cx="8503920" cy="365760"/>
          </a:xfrm>
          <a:prstGeom prst="rect">
            <a:avLst/>
          </a:prstGeom>
          <a:noFill/>
          <a:ln/>
        </p:spPr>
        <p:txBody>
          <a:bodyPr wrap="square" rtlCol="0" anchor="ctr"/>
          <a:lstStyle/>
          <a:p>
            <a:pPr indent="0" marL="0">
              <a:buNone/>
            </a:pPr>
            <a:r>
              <a:rPr lang="en-US" sz="1500" b="1" dirty="0">
                <a:solidFill>
                  <a:srgbClr val="1F2937"/>
                </a:solidFill>
                <a:latin typeface="맑은 고딕" pitchFamily="34" charset="0"/>
                <a:ea typeface="맑은 고딕" pitchFamily="34" charset="-122"/>
                <a:cs typeface="맑은 고딕" pitchFamily="34" charset="-120"/>
              </a:rPr>
              <a:t>Noon Report + 실제 연료 소모량</a:t>
            </a:r>
            <a:pPr indent="0" marL="0">
              <a:buNone/>
            </a:pPr>
            <a:r>
              <a:rPr lang="en-US" sz="1500" dirty="0">
                <a:solidFill>
                  <a:srgbClr val="5B6575"/>
                </a:solidFill>
                <a:latin typeface="맑은 고딕" pitchFamily="34" charset="0"/>
                <a:ea typeface="맑은 고딕" pitchFamily="34" charset="-122"/>
                <a:cs typeface="맑은 고딕" pitchFamily="34" charset="-120"/>
              </a:rPr>
              <a:t>   →   연료 소모 예측 모델</a:t>
            </a:r>
            <a:endParaRPr lang="en-US" sz="1500" dirty="0"/>
          </a:p>
        </p:txBody>
      </p:sp>
      <p:sp>
        <p:nvSpPr>
          <p:cNvPr id="24" name="Text 21"/>
          <p:cNvSpPr/>
          <p:nvPr/>
        </p:nvSpPr>
        <p:spPr>
          <a:xfrm>
            <a:off x="2926080" y="5212080"/>
            <a:ext cx="8503920" cy="365760"/>
          </a:xfrm>
          <a:prstGeom prst="rect">
            <a:avLst/>
          </a:prstGeom>
          <a:noFill/>
          <a:ln/>
        </p:spPr>
        <p:txBody>
          <a:bodyPr wrap="square" rtlCol="0" anchor="ctr"/>
          <a:lstStyle/>
          <a:p>
            <a:pPr indent="0" marL="0">
              <a:buNone/>
            </a:pPr>
            <a:r>
              <a:rPr lang="en-US" sz="1500" b="1" dirty="0">
                <a:solidFill>
                  <a:srgbClr val="1F2937"/>
                </a:solidFill>
                <a:latin typeface="맑은 고딕" pitchFamily="34" charset="0"/>
                <a:ea typeface="맑은 고딕" pitchFamily="34" charset="-122"/>
                <a:cs typeface="맑은 고딕" pitchFamily="34" charset="-120"/>
              </a:rPr>
              <a:t>CCTV 영상 + 작업 레이블</a:t>
            </a:r>
            <a:pPr indent="0" marL="0">
              <a:buNone/>
            </a:pPr>
            <a:r>
              <a:rPr lang="en-US" sz="1500" dirty="0">
                <a:solidFill>
                  <a:srgbClr val="5B6575"/>
                </a:solidFill>
                <a:latin typeface="맑은 고딕" pitchFamily="34" charset="0"/>
                <a:ea typeface="맑은 고딕" pitchFamily="34" charset="-122"/>
                <a:cs typeface="맑은 고딕" pitchFamily="34" charset="-120"/>
              </a:rPr>
              <a:t>   →   작업 유형 · PPE 판별 모델</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2612506"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03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AGENDA</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발표 순서</a:t>
            </a:r>
            <a:endParaRPr lang="en-US" sz="3000" dirty="0"/>
          </a:p>
        </p:txBody>
      </p:sp>
      <p:sp>
        <p:nvSpPr>
          <p:cNvPr id="9" name="Shape 6"/>
          <p:cNvSpPr/>
          <p:nvPr/>
        </p:nvSpPr>
        <p:spPr>
          <a:xfrm>
            <a:off x="731520" y="1691640"/>
            <a:ext cx="10728655" cy="0"/>
          </a:xfrm>
          <a:prstGeom prst="line">
            <a:avLst/>
          </a:prstGeom>
          <a:noFill/>
          <a:ln w="12700">
            <a:solidFill>
              <a:srgbClr val="D9DEE7"/>
            </a:solidFill>
            <a:prstDash val="solid"/>
          </a:ln>
        </p:spPr>
      </p:sp>
      <p:sp>
        <p:nvSpPr>
          <p:cNvPr id="10" name="Text 7"/>
          <p:cNvSpPr/>
          <p:nvPr/>
        </p:nvSpPr>
        <p:spPr>
          <a:xfrm>
            <a:off x="731520" y="1828800"/>
            <a:ext cx="1097280" cy="822960"/>
          </a:xfrm>
          <a:prstGeom prst="rect">
            <a:avLst/>
          </a:prstGeom>
          <a:noFill/>
          <a:ln/>
        </p:spPr>
        <p:txBody>
          <a:bodyPr wrap="square" rtlCol="0" anchor="ctr"/>
          <a:lstStyle/>
          <a:p>
            <a:pPr indent="0" marL="0">
              <a:buNone/>
            </a:pPr>
            <a:r>
              <a:rPr lang="en-US" sz="3400" b="1" dirty="0">
                <a:solidFill>
                  <a:srgbClr val="1D5FD1"/>
                </a:solidFill>
                <a:latin typeface="맑은 고딕" pitchFamily="34" charset="0"/>
                <a:ea typeface="맑은 고딕" pitchFamily="34" charset="-122"/>
                <a:cs typeface="맑은 고딕" pitchFamily="34" charset="-120"/>
              </a:rPr>
              <a:t>01</a:t>
            </a:r>
            <a:endParaRPr lang="en-US" sz="3400" dirty="0"/>
          </a:p>
        </p:txBody>
      </p:sp>
      <p:sp>
        <p:nvSpPr>
          <p:cNvPr id="11" name="Text 8"/>
          <p:cNvSpPr/>
          <p:nvPr/>
        </p:nvSpPr>
        <p:spPr>
          <a:xfrm>
            <a:off x="1920240" y="1847088"/>
            <a:ext cx="4572000" cy="274320"/>
          </a:xfrm>
          <a:prstGeom prst="rect">
            <a:avLst/>
          </a:prstGeom>
          <a:noFill/>
          <a:ln/>
        </p:spPr>
        <p:txBody>
          <a:bodyPr wrap="square" rtlCol="0" anchor="ctr"/>
          <a:lstStyle/>
          <a:p>
            <a:pPr indent="0" marL="0">
              <a:buNone/>
            </a:pPr>
            <a:r>
              <a:rPr lang="en-US" sz="1000" b="1" spc="200" kern="0" dirty="0">
                <a:solidFill>
                  <a:srgbClr val="8A93A3"/>
                </a:solidFill>
                <a:latin typeface="맑은 고딕" pitchFamily="34" charset="0"/>
                <a:ea typeface="맑은 고딕" pitchFamily="34" charset="-122"/>
                <a:cs typeface="맑은 고딕" pitchFamily="34" charset="-120"/>
              </a:rPr>
              <a:t>VOYAGE ECONOMICS</a:t>
            </a:r>
            <a:endParaRPr lang="en-US" sz="1000" dirty="0"/>
          </a:p>
        </p:txBody>
      </p:sp>
      <p:sp>
        <p:nvSpPr>
          <p:cNvPr id="12" name="Text 9"/>
          <p:cNvSpPr/>
          <p:nvPr/>
        </p:nvSpPr>
        <p:spPr>
          <a:xfrm>
            <a:off x="1920240" y="2103120"/>
            <a:ext cx="4572000" cy="502920"/>
          </a:xfrm>
          <a:prstGeom prst="rect">
            <a:avLst/>
          </a:prstGeom>
          <a:noFill/>
          <a:ln/>
        </p:spPr>
        <p:txBody>
          <a:bodyPr wrap="square" rtlCol="0" anchor="ctr"/>
          <a:lstStyle/>
          <a:p>
            <a:pPr indent="0" marL="0">
              <a:buNone/>
            </a:pPr>
            <a:r>
              <a:rPr lang="en-US" sz="2400" b="1" dirty="0">
                <a:solidFill>
                  <a:srgbClr val="0B1F3A"/>
                </a:solidFill>
                <a:latin typeface="맑은 고딕" pitchFamily="34" charset="0"/>
                <a:ea typeface="맑은 고딕" pitchFamily="34" charset="-122"/>
                <a:cs typeface="맑은 고딕" pitchFamily="34" charset="-120"/>
              </a:rPr>
              <a:t>경제 운항 계획</a:t>
            </a:r>
            <a:endParaRPr lang="en-US" sz="2400" dirty="0"/>
          </a:p>
        </p:txBody>
      </p:sp>
      <p:sp>
        <p:nvSpPr>
          <p:cNvPr id="13" name="Text 10"/>
          <p:cNvSpPr/>
          <p:nvPr/>
        </p:nvSpPr>
        <p:spPr>
          <a:xfrm>
            <a:off x="1920240" y="2606040"/>
            <a:ext cx="6858000" cy="320040"/>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Noon Report 학습 기반 항로·연료 모드별 항차 비용 비교</a:t>
            </a:r>
            <a:endParaRPr lang="en-US" sz="1300" dirty="0"/>
          </a:p>
        </p:txBody>
      </p:sp>
      <p:pic>
        <p:nvPicPr>
          <p:cNvPr id="14" name="Image 0" descr="preencoded.png">    </p:cNvPr>
          <p:cNvPicPr>
            <a:picLocks noChangeAspect="1"/>
          </p:cNvPicPr>
          <p:nvPr/>
        </p:nvPicPr>
        <p:blipFill>
          <a:blip r:embed="rId1"/>
          <a:srcRect l="0" r="0" t="0" b="0"/>
          <a:stretch/>
        </p:blipFill>
        <p:spPr>
          <a:xfrm>
            <a:off x="9448495" y="1810512"/>
            <a:ext cx="2011680" cy="1097280"/>
          </a:xfrm>
          <a:prstGeom prst="rect">
            <a:avLst/>
          </a:prstGeom>
        </p:spPr>
      </p:pic>
      <p:sp>
        <p:nvSpPr>
          <p:cNvPr id="15" name="Shape 11"/>
          <p:cNvSpPr/>
          <p:nvPr/>
        </p:nvSpPr>
        <p:spPr>
          <a:xfrm>
            <a:off x="731520" y="3063240"/>
            <a:ext cx="10728655" cy="0"/>
          </a:xfrm>
          <a:prstGeom prst="line">
            <a:avLst/>
          </a:prstGeom>
          <a:noFill/>
          <a:ln w="12700">
            <a:solidFill>
              <a:srgbClr val="D9DEE7"/>
            </a:solidFill>
            <a:prstDash val="solid"/>
          </a:ln>
        </p:spPr>
      </p:sp>
      <p:sp>
        <p:nvSpPr>
          <p:cNvPr id="16" name="Text 12"/>
          <p:cNvSpPr/>
          <p:nvPr/>
        </p:nvSpPr>
        <p:spPr>
          <a:xfrm>
            <a:off x="731520" y="3200400"/>
            <a:ext cx="1097280" cy="822960"/>
          </a:xfrm>
          <a:prstGeom prst="rect">
            <a:avLst/>
          </a:prstGeom>
          <a:noFill/>
          <a:ln/>
        </p:spPr>
        <p:txBody>
          <a:bodyPr wrap="square" rtlCol="0" anchor="ctr"/>
          <a:lstStyle/>
          <a:p>
            <a:pPr indent="0" marL="0">
              <a:buNone/>
            </a:pPr>
            <a:r>
              <a:rPr lang="en-US" sz="3400" b="1" dirty="0">
                <a:solidFill>
                  <a:srgbClr val="1D5FD1"/>
                </a:solidFill>
                <a:latin typeface="맑은 고딕" pitchFamily="34" charset="0"/>
                <a:ea typeface="맑은 고딕" pitchFamily="34" charset="-122"/>
                <a:cs typeface="맑은 고딕" pitchFamily="34" charset="-120"/>
              </a:rPr>
              <a:t>02</a:t>
            </a:r>
            <a:endParaRPr lang="en-US" sz="3400" dirty="0"/>
          </a:p>
        </p:txBody>
      </p:sp>
      <p:sp>
        <p:nvSpPr>
          <p:cNvPr id="17" name="Text 13"/>
          <p:cNvSpPr/>
          <p:nvPr/>
        </p:nvSpPr>
        <p:spPr>
          <a:xfrm>
            <a:off x="1920240" y="3218688"/>
            <a:ext cx="4572000" cy="274320"/>
          </a:xfrm>
          <a:prstGeom prst="rect">
            <a:avLst/>
          </a:prstGeom>
          <a:noFill/>
          <a:ln/>
        </p:spPr>
        <p:txBody>
          <a:bodyPr wrap="square" rtlCol="0" anchor="ctr"/>
          <a:lstStyle/>
          <a:p>
            <a:pPr indent="0" marL="0">
              <a:buNone/>
            </a:pPr>
            <a:r>
              <a:rPr lang="en-US" sz="1000" b="1" spc="200" kern="0" dirty="0">
                <a:solidFill>
                  <a:srgbClr val="8A93A3"/>
                </a:solidFill>
                <a:latin typeface="맑은 고딕" pitchFamily="34" charset="0"/>
                <a:ea typeface="맑은 고딕" pitchFamily="34" charset="-122"/>
                <a:cs typeface="맑은 고딕" pitchFamily="34" charset="-120"/>
              </a:rPr>
              <a:t>PPE · PERMIT CHECK</a:t>
            </a:r>
            <a:endParaRPr lang="en-US" sz="1000" dirty="0"/>
          </a:p>
        </p:txBody>
      </p:sp>
      <p:sp>
        <p:nvSpPr>
          <p:cNvPr id="18" name="Text 14"/>
          <p:cNvSpPr/>
          <p:nvPr/>
        </p:nvSpPr>
        <p:spPr>
          <a:xfrm>
            <a:off x="1920240" y="3474720"/>
            <a:ext cx="4572000" cy="502920"/>
          </a:xfrm>
          <a:prstGeom prst="rect">
            <a:avLst/>
          </a:prstGeom>
          <a:noFill/>
          <a:ln/>
        </p:spPr>
        <p:txBody>
          <a:bodyPr wrap="square" rtlCol="0" anchor="ctr"/>
          <a:lstStyle/>
          <a:p>
            <a:pPr indent="0" marL="0">
              <a:buNone/>
            </a:pPr>
            <a:r>
              <a:rPr lang="en-US" sz="2400" b="1" dirty="0">
                <a:solidFill>
                  <a:srgbClr val="0B1F3A"/>
                </a:solidFill>
                <a:latin typeface="맑은 고딕" pitchFamily="34" charset="0"/>
                <a:ea typeface="맑은 고딕" pitchFamily="34" charset="-122"/>
                <a:cs typeface="맑은 고딕" pitchFamily="34" charset="-120"/>
              </a:rPr>
              <a:t>위험작업 인식</a:t>
            </a:r>
            <a:endParaRPr lang="en-US" sz="2400" dirty="0"/>
          </a:p>
        </p:txBody>
      </p:sp>
      <p:sp>
        <p:nvSpPr>
          <p:cNvPr id="19" name="Text 15"/>
          <p:cNvSpPr/>
          <p:nvPr/>
        </p:nvSpPr>
        <p:spPr>
          <a:xfrm>
            <a:off x="1920240" y="3977640"/>
            <a:ext cx="6858000" cy="320040"/>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CCTV 기반 작업 유형 판별, 보호구 착용 및 작업허가 조건 확인</a:t>
            </a:r>
            <a:endParaRPr lang="en-US" sz="1300" dirty="0"/>
          </a:p>
        </p:txBody>
      </p:sp>
      <p:pic>
        <p:nvPicPr>
          <p:cNvPr id="20" name="Image 1" descr="preencoded.png">    </p:cNvPr>
          <p:cNvPicPr>
            <a:picLocks noChangeAspect="1"/>
          </p:cNvPicPr>
          <p:nvPr/>
        </p:nvPicPr>
        <p:blipFill>
          <a:blip r:embed="rId2"/>
          <a:srcRect l="0" r="0" t="0" b="0"/>
          <a:stretch/>
        </p:blipFill>
        <p:spPr>
          <a:xfrm>
            <a:off x="9448495" y="3182112"/>
            <a:ext cx="2011680" cy="1097280"/>
          </a:xfrm>
          <a:prstGeom prst="rect">
            <a:avLst/>
          </a:prstGeom>
        </p:spPr>
      </p:pic>
      <p:sp>
        <p:nvSpPr>
          <p:cNvPr id="21" name="Shape 16"/>
          <p:cNvSpPr/>
          <p:nvPr/>
        </p:nvSpPr>
        <p:spPr>
          <a:xfrm>
            <a:off x="731520" y="4434840"/>
            <a:ext cx="10728655" cy="0"/>
          </a:xfrm>
          <a:prstGeom prst="line">
            <a:avLst/>
          </a:prstGeom>
          <a:noFill/>
          <a:ln w="12700">
            <a:solidFill>
              <a:srgbClr val="D9DEE7"/>
            </a:solidFill>
            <a:prstDash val="solid"/>
          </a:ln>
        </p:spPr>
      </p:sp>
      <p:sp>
        <p:nvSpPr>
          <p:cNvPr id="22" name="Text 17"/>
          <p:cNvSpPr/>
          <p:nvPr/>
        </p:nvSpPr>
        <p:spPr>
          <a:xfrm>
            <a:off x="731520" y="4572000"/>
            <a:ext cx="1097280" cy="822960"/>
          </a:xfrm>
          <a:prstGeom prst="rect">
            <a:avLst/>
          </a:prstGeom>
          <a:noFill/>
          <a:ln/>
        </p:spPr>
        <p:txBody>
          <a:bodyPr wrap="square" rtlCol="0" anchor="ctr"/>
          <a:lstStyle/>
          <a:p>
            <a:pPr indent="0" marL="0">
              <a:buNone/>
            </a:pPr>
            <a:r>
              <a:rPr lang="en-US" sz="3400" b="1" dirty="0">
                <a:solidFill>
                  <a:srgbClr val="1D5FD1"/>
                </a:solidFill>
                <a:latin typeface="맑은 고딕" pitchFamily="34" charset="0"/>
                <a:ea typeface="맑은 고딕" pitchFamily="34" charset="-122"/>
                <a:cs typeface="맑은 고딕" pitchFamily="34" charset="-120"/>
              </a:rPr>
              <a:t>03</a:t>
            </a:r>
            <a:endParaRPr lang="en-US" sz="3400" dirty="0"/>
          </a:p>
        </p:txBody>
      </p:sp>
      <p:sp>
        <p:nvSpPr>
          <p:cNvPr id="23" name="Text 18"/>
          <p:cNvSpPr/>
          <p:nvPr/>
        </p:nvSpPr>
        <p:spPr>
          <a:xfrm>
            <a:off x="1920240" y="4590288"/>
            <a:ext cx="4572000" cy="274320"/>
          </a:xfrm>
          <a:prstGeom prst="rect">
            <a:avLst/>
          </a:prstGeom>
          <a:noFill/>
          <a:ln/>
        </p:spPr>
        <p:txBody>
          <a:bodyPr wrap="square" rtlCol="0" anchor="ctr"/>
          <a:lstStyle/>
          <a:p>
            <a:pPr indent="0" marL="0">
              <a:buNone/>
            </a:pPr>
            <a:r>
              <a:rPr lang="en-US" sz="1000" b="1" spc="200" kern="0" dirty="0">
                <a:solidFill>
                  <a:srgbClr val="8A93A3"/>
                </a:solidFill>
                <a:latin typeface="맑은 고딕" pitchFamily="34" charset="0"/>
                <a:ea typeface="맑은 고딕" pitchFamily="34" charset="-122"/>
                <a:cs typeface="맑은 고딕" pitchFamily="34" charset="-120"/>
              </a:rPr>
              <a:t>NEXT STEPS</a:t>
            </a:r>
            <a:endParaRPr lang="en-US" sz="1000" dirty="0"/>
          </a:p>
        </p:txBody>
      </p:sp>
      <p:sp>
        <p:nvSpPr>
          <p:cNvPr id="24" name="Text 19"/>
          <p:cNvSpPr/>
          <p:nvPr/>
        </p:nvSpPr>
        <p:spPr>
          <a:xfrm>
            <a:off x="1920240" y="4846320"/>
            <a:ext cx="4572000" cy="502920"/>
          </a:xfrm>
          <a:prstGeom prst="rect">
            <a:avLst/>
          </a:prstGeom>
          <a:noFill/>
          <a:ln/>
        </p:spPr>
        <p:txBody>
          <a:bodyPr wrap="square" rtlCol="0" anchor="ctr"/>
          <a:lstStyle/>
          <a:p>
            <a:pPr indent="0" marL="0">
              <a:buNone/>
            </a:pPr>
            <a:r>
              <a:rPr lang="en-US" sz="2400" b="1" dirty="0">
                <a:solidFill>
                  <a:srgbClr val="0B1F3A"/>
                </a:solidFill>
                <a:latin typeface="맑은 고딕" pitchFamily="34" charset="0"/>
                <a:ea typeface="맑은 고딕" pitchFamily="34" charset="-122"/>
                <a:cs typeface="맑은 고딕" pitchFamily="34" charset="-120"/>
              </a:rPr>
              <a:t>향후 과제</a:t>
            </a:r>
            <a:endParaRPr lang="en-US" sz="2400" dirty="0"/>
          </a:p>
        </p:txBody>
      </p:sp>
      <p:sp>
        <p:nvSpPr>
          <p:cNvPr id="25" name="Text 20"/>
          <p:cNvSpPr/>
          <p:nvPr/>
        </p:nvSpPr>
        <p:spPr>
          <a:xfrm>
            <a:off x="1920240" y="5349240"/>
            <a:ext cx="6858000" cy="320040"/>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실선 적용과 정확도 향상을 위한 추가 데이터</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3483341" cy="45720"/>
          </a:xfrm>
          <a:prstGeom prst="rect">
            <a:avLst/>
          </a:prstGeom>
          <a:solidFill>
            <a:srgbClr val="1D5FD1"/>
          </a:solidFill>
          <a:ln/>
        </p:spPr>
      </p:sp>
      <p:sp>
        <p:nvSpPr>
          <p:cNvPr id="5" name="Shape 2"/>
          <p:cNvSpPr/>
          <p:nvPr/>
        </p:nvSpPr>
        <p:spPr>
          <a:xfrm>
            <a:off x="0" y="0"/>
            <a:ext cx="5513832" cy="6812280"/>
          </a:xfrm>
          <a:prstGeom prst="rect">
            <a:avLst/>
          </a:prstGeom>
          <a:solidFill>
            <a:srgbClr val="0B1F3A"/>
          </a:solidFill>
          <a:ln/>
        </p:spPr>
      </p:sp>
      <p:sp>
        <p:nvSpPr>
          <p:cNvPr id="6" name="Shape 3"/>
          <p:cNvSpPr/>
          <p:nvPr/>
        </p:nvSpPr>
        <p:spPr>
          <a:xfrm>
            <a:off x="5513832" y="0"/>
            <a:ext cx="6677863" cy="6812280"/>
          </a:xfrm>
          <a:prstGeom prst="rect">
            <a:avLst/>
          </a:prstGeom>
          <a:solidFill>
            <a:srgbClr val="F4F6FA"/>
          </a:solidFill>
          <a:ln/>
        </p:spPr>
      </p:sp>
      <p:sp>
        <p:nvSpPr>
          <p:cNvPr id="7" name="Shape 4"/>
          <p:cNvSpPr/>
          <p:nvPr/>
        </p:nvSpPr>
        <p:spPr>
          <a:xfrm>
            <a:off x="5861304" y="1738303"/>
            <a:ext cx="5982919" cy="3381394"/>
          </a:xfrm>
          <a:prstGeom prst="rect">
            <a:avLst/>
          </a:prstGeom>
          <a:solidFill>
            <a:srgbClr val="D9DEE7"/>
          </a:solidFill>
          <a:ln/>
        </p:spPr>
      </p:sp>
      <p:pic>
        <p:nvPicPr>
          <p:cNvPr id="8" name="Image 0" descr="preencoded.png">    </p:cNvPr>
          <p:cNvPicPr>
            <a:picLocks noChangeAspect="1"/>
          </p:cNvPicPr>
          <p:nvPr/>
        </p:nvPicPr>
        <p:blipFill>
          <a:blip r:embed="rId1"/>
          <a:stretch>
            <a:fillRect/>
          </a:stretch>
        </p:blipFill>
        <p:spPr>
          <a:xfrm>
            <a:off x="5879592" y="1756591"/>
            <a:ext cx="5946343" cy="3344818"/>
          </a:xfrm>
          <a:prstGeom prst="rect">
            <a:avLst/>
          </a:prstGeom>
        </p:spPr>
      </p:pic>
      <p:sp>
        <p:nvSpPr>
          <p:cNvPr id="9" name="Text 5"/>
          <p:cNvSpPr/>
          <p:nvPr/>
        </p:nvSpPr>
        <p:spPr>
          <a:xfrm>
            <a:off x="731520" y="1188720"/>
            <a:ext cx="2743200" cy="914400"/>
          </a:xfrm>
          <a:prstGeom prst="rect">
            <a:avLst/>
          </a:prstGeom>
          <a:noFill/>
          <a:ln/>
        </p:spPr>
        <p:txBody>
          <a:bodyPr wrap="square" rtlCol="0" anchor="ctr"/>
          <a:lstStyle/>
          <a:p>
            <a:pPr indent="0" marL="0">
              <a:buNone/>
            </a:pPr>
            <a:r>
              <a:rPr lang="en-US" sz="6000" b="1" dirty="0">
                <a:solidFill>
                  <a:srgbClr val="6C8EDB"/>
                </a:solidFill>
                <a:latin typeface="맑은 고딕" pitchFamily="34" charset="0"/>
                <a:ea typeface="맑은 고딕" pitchFamily="34" charset="-122"/>
                <a:cs typeface="맑은 고딕" pitchFamily="34" charset="-120"/>
              </a:rPr>
              <a:t>01</a:t>
            </a:r>
            <a:endParaRPr lang="en-US" sz="6000" dirty="0"/>
          </a:p>
        </p:txBody>
      </p:sp>
      <p:sp>
        <p:nvSpPr>
          <p:cNvPr id="10" name="Text 6"/>
          <p:cNvSpPr/>
          <p:nvPr/>
        </p:nvSpPr>
        <p:spPr>
          <a:xfrm>
            <a:off x="731520" y="2240280"/>
            <a:ext cx="4572000" cy="320040"/>
          </a:xfrm>
          <a:prstGeom prst="rect">
            <a:avLst/>
          </a:prstGeom>
          <a:noFill/>
          <a:ln/>
        </p:spPr>
        <p:txBody>
          <a:bodyPr wrap="square" rtlCol="0" anchor="ctr"/>
          <a:lstStyle/>
          <a:p>
            <a:pPr indent="0" marL="0">
              <a:buNone/>
            </a:pPr>
            <a:r>
              <a:rPr lang="en-US" sz="1200" b="1" spc="300" kern="0" dirty="0">
                <a:solidFill>
                  <a:srgbClr val="9DB3E3"/>
                </a:solidFill>
                <a:latin typeface="맑은 고딕" pitchFamily="34" charset="0"/>
                <a:ea typeface="맑은 고딕" pitchFamily="34" charset="-122"/>
                <a:cs typeface="맑은 고딕" pitchFamily="34" charset="-120"/>
              </a:rPr>
              <a:t>VOYAGE ECONOMICS</a:t>
            </a:r>
            <a:endParaRPr lang="en-US" sz="1200" dirty="0"/>
          </a:p>
        </p:txBody>
      </p:sp>
      <p:sp>
        <p:nvSpPr>
          <p:cNvPr id="11" name="Text 7"/>
          <p:cNvSpPr/>
          <p:nvPr/>
        </p:nvSpPr>
        <p:spPr>
          <a:xfrm>
            <a:off x="731520" y="2606040"/>
            <a:ext cx="4754880" cy="822960"/>
          </a:xfrm>
          <a:prstGeom prst="rect">
            <a:avLst/>
          </a:prstGeom>
          <a:noFill/>
          <a:ln/>
        </p:spPr>
        <p:txBody>
          <a:bodyPr wrap="square" rtlCol="0" anchor="ctr"/>
          <a:lstStyle/>
          <a:p>
            <a:pPr indent="0" marL="0">
              <a:buNone/>
            </a:pPr>
            <a:r>
              <a:rPr lang="en-US" sz="3800" b="1" dirty="0">
                <a:solidFill>
                  <a:srgbClr val="FFFFFF"/>
                </a:solidFill>
                <a:latin typeface="맑은 고딕" pitchFamily="34" charset="0"/>
                <a:ea typeface="맑은 고딕" pitchFamily="34" charset="-122"/>
                <a:cs typeface="맑은 고딕" pitchFamily="34" charset="-120"/>
              </a:rPr>
              <a:t>경제 운항 계획</a:t>
            </a:r>
            <a:endParaRPr lang="en-US" sz="3800" dirty="0"/>
          </a:p>
        </p:txBody>
      </p:sp>
      <p:sp>
        <p:nvSpPr>
          <p:cNvPr id="12" name="Text 8"/>
          <p:cNvSpPr/>
          <p:nvPr/>
        </p:nvSpPr>
        <p:spPr>
          <a:xfrm>
            <a:off x="731520" y="3383280"/>
            <a:ext cx="4754880" cy="411480"/>
          </a:xfrm>
          <a:prstGeom prst="rect">
            <a:avLst/>
          </a:prstGeom>
          <a:noFill/>
          <a:ln/>
        </p:spPr>
        <p:txBody>
          <a:bodyPr wrap="square" rtlCol="0" anchor="ctr"/>
          <a:lstStyle/>
          <a:p>
            <a:pPr indent="0" marL="0">
              <a:buNone/>
            </a:pPr>
            <a:r>
              <a:rPr lang="en-US" sz="1700" dirty="0">
                <a:solidFill>
                  <a:srgbClr val="C9D5EE"/>
                </a:solidFill>
                <a:latin typeface="맑은 고딕" pitchFamily="34" charset="0"/>
                <a:ea typeface="맑은 고딕" pitchFamily="34" charset="-122"/>
                <a:cs typeface="맑은 고딕" pitchFamily="34" charset="-120"/>
              </a:rPr>
              <a:t>항로 · 연료 모드 · 속력</a:t>
            </a:r>
            <a:endParaRPr lang="en-US" sz="1700" dirty="0"/>
          </a:p>
        </p:txBody>
      </p:sp>
      <p:sp>
        <p:nvSpPr>
          <p:cNvPr id="13" name="Shape 9"/>
          <p:cNvSpPr/>
          <p:nvPr/>
        </p:nvSpPr>
        <p:spPr>
          <a:xfrm>
            <a:off x="731520" y="4160520"/>
            <a:ext cx="731520" cy="0"/>
          </a:xfrm>
          <a:prstGeom prst="line">
            <a:avLst/>
          </a:prstGeom>
          <a:noFill/>
          <a:ln w="31750">
            <a:solidFill>
              <a:srgbClr val="6C8EDB"/>
            </a:solidFill>
            <a:prstDash val="solid"/>
          </a:ln>
        </p:spPr>
      </p:sp>
      <p:sp>
        <p:nvSpPr>
          <p:cNvPr id="14" name="Text 10"/>
          <p:cNvSpPr/>
          <p:nvPr/>
        </p:nvSpPr>
        <p:spPr>
          <a:xfrm>
            <a:off x="731520" y="4389120"/>
            <a:ext cx="4389120" cy="1188720"/>
          </a:xfrm>
          <a:prstGeom prst="rect">
            <a:avLst/>
          </a:prstGeom>
          <a:noFill/>
          <a:ln/>
        </p:spPr>
        <p:txBody>
          <a:bodyPr wrap="square" rtlCol="0" anchor="t"/>
          <a:lstStyle/>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항로, 연료 모드, 속력 중</a:t>
            </a:r>
            <a:endParaRPr lang="en-US" sz="1600" dirty="0"/>
          </a:p>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어떤 조합이 가장 경제적인 운항인가?</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4354177"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05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MODEL</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Noon Report 기반 연료 소모 예측</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GAS IVORY (VLGC · LPG DF) · 1,022 항해일 · 시계열 분할 (학습 722일 / 검증 300일)</a:t>
            </a:r>
            <a:endParaRPr lang="en-US" sz="1400" dirty="0"/>
          </a:p>
        </p:txBody>
      </p:sp>
      <p:sp>
        <p:nvSpPr>
          <p:cNvPr id="10" name="Text 7"/>
          <p:cNvSpPr/>
          <p:nvPr/>
        </p:nvSpPr>
        <p:spPr>
          <a:xfrm>
            <a:off x="731520" y="2148840"/>
            <a:ext cx="3108960" cy="320040"/>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입력 변수</a:t>
            </a:r>
            <a:endParaRPr lang="en-US" sz="1200" dirty="0"/>
          </a:p>
        </p:txBody>
      </p:sp>
      <p:sp>
        <p:nvSpPr>
          <p:cNvPr id="11" name="Text 8"/>
          <p:cNvSpPr/>
          <p:nvPr/>
        </p:nvSpPr>
        <p:spPr>
          <a:xfrm>
            <a:off x="731520" y="2468880"/>
            <a:ext cx="3931920" cy="41148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M/E RPM · 연료 모드(LPG/FO) · 계절</a:t>
            </a:r>
            <a:endParaRPr lang="en-US" sz="1500" dirty="0"/>
          </a:p>
        </p:txBody>
      </p:sp>
      <p:sp>
        <p:nvSpPr>
          <p:cNvPr id="12" name="Text 9"/>
          <p:cNvSpPr/>
          <p:nvPr/>
        </p:nvSpPr>
        <p:spPr>
          <a:xfrm>
            <a:off x="731520" y="3108960"/>
            <a:ext cx="3108960" cy="320040"/>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예측 대상</a:t>
            </a:r>
            <a:endParaRPr lang="en-US" sz="1200" dirty="0"/>
          </a:p>
        </p:txBody>
      </p:sp>
      <p:sp>
        <p:nvSpPr>
          <p:cNvPr id="13" name="Text 10"/>
          <p:cNvSpPr/>
          <p:nvPr/>
        </p:nvSpPr>
        <p:spPr>
          <a:xfrm>
            <a:off x="731520" y="3429000"/>
            <a:ext cx="3931920" cy="41148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일일 LPG · FO · MGO 소모량, 속력</a:t>
            </a:r>
            <a:endParaRPr lang="en-US" sz="1500" dirty="0"/>
          </a:p>
        </p:txBody>
      </p:sp>
      <p:sp>
        <p:nvSpPr>
          <p:cNvPr id="14" name="Text 11"/>
          <p:cNvSpPr/>
          <p:nvPr/>
        </p:nvSpPr>
        <p:spPr>
          <a:xfrm>
            <a:off x="731520" y="4069080"/>
            <a:ext cx="3108960" cy="320040"/>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비교 모델</a:t>
            </a:r>
            <a:endParaRPr lang="en-US" sz="1200" dirty="0"/>
          </a:p>
        </p:txBody>
      </p:sp>
      <p:sp>
        <p:nvSpPr>
          <p:cNvPr id="15" name="Text 12"/>
          <p:cNvSpPr/>
          <p:nvPr/>
        </p:nvSpPr>
        <p:spPr>
          <a:xfrm>
            <a:off x="731520" y="4389120"/>
            <a:ext cx="3931920" cy="41148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기준선 · 선형회귀 · RF · XGBoost · MLP</a:t>
            </a:r>
            <a:endParaRPr lang="en-US" sz="1500" dirty="0"/>
          </a:p>
        </p:txBody>
      </p:sp>
      <p:sp>
        <p:nvSpPr>
          <p:cNvPr id="16" name="Text 13"/>
          <p:cNvSpPr/>
          <p:nvPr/>
        </p:nvSpPr>
        <p:spPr>
          <a:xfrm>
            <a:off x="5029200" y="2148840"/>
            <a:ext cx="6858000" cy="320040"/>
          </a:xfrm>
          <a:prstGeom prst="rect">
            <a:avLst/>
          </a:prstGeom>
          <a:noFill/>
          <a:ln/>
        </p:spPr>
        <p:txBody>
          <a:bodyPr wrap="square" rtlCol="0" anchor="ctr"/>
          <a:lstStyle/>
          <a:p>
            <a:pPr indent="0" marL="0">
              <a:buNone/>
            </a:pPr>
            <a:r>
              <a:rPr lang="en-US" sz="1200" b="1" dirty="0">
                <a:solidFill>
                  <a:srgbClr val="8A93A3"/>
                </a:solidFill>
                <a:latin typeface="맑은 고딕" pitchFamily="34" charset="0"/>
                <a:ea typeface="맑은 고딕" pitchFamily="34" charset="-122"/>
                <a:cs typeface="맑은 고딕" pitchFamily="34" charset="-120"/>
              </a:rPr>
              <a:t>일일 연료비 예측 오차 (MAE, $/day · 낮을수록 우수 · 축 $1,400부터)</a:t>
            </a:r>
            <a:endParaRPr lang="en-US" sz="1200" dirty="0"/>
          </a:p>
        </p:txBody>
      </p:sp>
      <p:sp>
        <p:nvSpPr>
          <p:cNvPr id="17" name="Text 14"/>
          <p:cNvSpPr/>
          <p:nvPr/>
        </p:nvSpPr>
        <p:spPr>
          <a:xfrm>
            <a:off x="5029200" y="2606040"/>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평균 (기준선)</a:t>
            </a:r>
            <a:endParaRPr lang="en-US" sz="1300" dirty="0"/>
          </a:p>
        </p:txBody>
      </p:sp>
      <p:sp>
        <p:nvSpPr>
          <p:cNvPr id="18" name="Shape 15"/>
          <p:cNvSpPr/>
          <p:nvPr/>
        </p:nvSpPr>
        <p:spPr>
          <a:xfrm>
            <a:off x="6766560" y="2670048"/>
            <a:ext cx="2157984" cy="274320"/>
          </a:xfrm>
          <a:prstGeom prst="rect">
            <a:avLst/>
          </a:prstGeom>
          <a:solidFill>
            <a:srgbClr val="8A93A3"/>
          </a:solidFill>
          <a:ln/>
        </p:spPr>
      </p:sp>
      <p:sp>
        <p:nvSpPr>
          <p:cNvPr id="19" name="Text 16"/>
          <p:cNvSpPr/>
          <p:nvPr/>
        </p:nvSpPr>
        <p:spPr>
          <a:xfrm>
            <a:off x="8997696" y="2606040"/>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$1,636</a:t>
            </a:r>
            <a:endParaRPr lang="en-US" sz="1300" dirty="0"/>
          </a:p>
        </p:txBody>
      </p:sp>
      <p:sp>
        <p:nvSpPr>
          <p:cNvPr id="20" name="Text 17"/>
          <p:cNvSpPr/>
          <p:nvPr/>
        </p:nvSpPr>
        <p:spPr>
          <a:xfrm>
            <a:off x="5029200" y="3136392"/>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선형회귀</a:t>
            </a:r>
            <a:endParaRPr lang="en-US" sz="1300" dirty="0"/>
          </a:p>
        </p:txBody>
      </p:sp>
      <p:sp>
        <p:nvSpPr>
          <p:cNvPr id="21" name="Shape 18"/>
          <p:cNvSpPr/>
          <p:nvPr/>
        </p:nvSpPr>
        <p:spPr>
          <a:xfrm>
            <a:off x="6766560" y="3200400"/>
            <a:ext cx="3621024" cy="274320"/>
          </a:xfrm>
          <a:prstGeom prst="rect">
            <a:avLst/>
          </a:prstGeom>
          <a:solidFill>
            <a:srgbClr val="CDD3DD"/>
          </a:solidFill>
          <a:ln/>
        </p:spPr>
      </p:sp>
      <p:sp>
        <p:nvSpPr>
          <p:cNvPr id="22" name="Text 19"/>
          <p:cNvSpPr/>
          <p:nvPr/>
        </p:nvSpPr>
        <p:spPr>
          <a:xfrm>
            <a:off x="10460736" y="3136392"/>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$1,796</a:t>
            </a:r>
            <a:endParaRPr lang="en-US" sz="1300" dirty="0"/>
          </a:p>
        </p:txBody>
      </p:sp>
      <p:sp>
        <p:nvSpPr>
          <p:cNvPr id="23" name="Text 20"/>
          <p:cNvSpPr/>
          <p:nvPr/>
        </p:nvSpPr>
        <p:spPr>
          <a:xfrm>
            <a:off x="5029200" y="3666744"/>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랜덤포레스트</a:t>
            </a:r>
            <a:endParaRPr lang="en-US" sz="1300" dirty="0"/>
          </a:p>
        </p:txBody>
      </p:sp>
      <p:sp>
        <p:nvSpPr>
          <p:cNvPr id="24" name="Shape 21"/>
          <p:cNvSpPr/>
          <p:nvPr/>
        </p:nvSpPr>
        <p:spPr>
          <a:xfrm>
            <a:off x="6766560" y="3730752"/>
            <a:ext cx="2459736" cy="274320"/>
          </a:xfrm>
          <a:prstGeom prst="rect">
            <a:avLst/>
          </a:prstGeom>
          <a:solidFill>
            <a:srgbClr val="CDD3DD"/>
          </a:solidFill>
          <a:ln/>
        </p:spPr>
      </p:sp>
      <p:sp>
        <p:nvSpPr>
          <p:cNvPr id="25" name="Text 22"/>
          <p:cNvSpPr/>
          <p:nvPr/>
        </p:nvSpPr>
        <p:spPr>
          <a:xfrm>
            <a:off x="9299448" y="3666744"/>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$1,669</a:t>
            </a:r>
            <a:endParaRPr lang="en-US" sz="1300" dirty="0"/>
          </a:p>
        </p:txBody>
      </p:sp>
      <p:sp>
        <p:nvSpPr>
          <p:cNvPr id="26" name="Text 23"/>
          <p:cNvSpPr/>
          <p:nvPr/>
        </p:nvSpPr>
        <p:spPr>
          <a:xfrm>
            <a:off x="5029200" y="4197096"/>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XGBoost</a:t>
            </a:r>
            <a:endParaRPr lang="en-US" sz="1300" dirty="0"/>
          </a:p>
        </p:txBody>
      </p:sp>
      <p:sp>
        <p:nvSpPr>
          <p:cNvPr id="27" name="Shape 24"/>
          <p:cNvSpPr/>
          <p:nvPr/>
        </p:nvSpPr>
        <p:spPr>
          <a:xfrm>
            <a:off x="6766560" y="4261104"/>
            <a:ext cx="3246120" cy="274320"/>
          </a:xfrm>
          <a:prstGeom prst="rect">
            <a:avLst/>
          </a:prstGeom>
          <a:solidFill>
            <a:srgbClr val="CDD3DD"/>
          </a:solidFill>
          <a:ln/>
        </p:spPr>
      </p:sp>
      <p:sp>
        <p:nvSpPr>
          <p:cNvPr id="28" name="Text 25"/>
          <p:cNvSpPr/>
          <p:nvPr/>
        </p:nvSpPr>
        <p:spPr>
          <a:xfrm>
            <a:off x="10085832" y="4197096"/>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$1,755</a:t>
            </a:r>
            <a:endParaRPr lang="en-US" sz="1300" dirty="0"/>
          </a:p>
        </p:txBody>
      </p:sp>
      <p:sp>
        <p:nvSpPr>
          <p:cNvPr id="29" name="Text 26"/>
          <p:cNvSpPr/>
          <p:nvPr/>
        </p:nvSpPr>
        <p:spPr>
          <a:xfrm>
            <a:off x="5029200" y="4727448"/>
            <a:ext cx="1737360" cy="384048"/>
          </a:xfrm>
          <a:prstGeom prst="rect">
            <a:avLst/>
          </a:prstGeom>
          <a:noFill/>
          <a:ln/>
        </p:spPr>
        <p:txBody>
          <a:bodyPr wrap="square" rtlCol="0" anchor="ctr"/>
          <a:lstStyle/>
          <a:p>
            <a:pPr algn="r" indent="0" marL="0">
              <a:buNone/>
            </a:pPr>
            <a:r>
              <a:rPr lang="en-US" sz="1300" b="1" dirty="0">
                <a:solidFill>
                  <a:srgbClr val="1D5FD1"/>
                </a:solidFill>
                <a:latin typeface="맑은 고딕" pitchFamily="34" charset="0"/>
                <a:ea typeface="맑은 고딕" pitchFamily="34" charset="-122"/>
                <a:cs typeface="맑은 고딕" pitchFamily="34" charset="-120"/>
              </a:rPr>
              <a:t>신경망 MLP</a:t>
            </a:r>
            <a:endParaRPr lang="en-US" sz="1300" dirty="0"/>
          </a:p>
        </p:txBody>
      </p:sp>
      <p:sp>
        <p:nvSpPr>
          <p:cNvPr id="30" name="Shape 27"/>
          <p:cNvSpPr/>
          <p:nvPr/>
        </p:nvSpPr>
        <p:spPr>
          <a:xfrm>
            <a:off x="6766560" y="4791456"/>
            <a:ext cx="1792224" cy="274320"/>
          </a:xfrm>
          <a:prstGeom prst="rect">
            <a:avLst/>
          </a:prstGeom>
          <a:solidFill>
            <a:srgbClr val="1D5FD1"/>
          </a:solidFill>
          <a:ln/>
        </p:spPr>
      </p:sp>
      <p:sp>
        <p:nvSpPr>
          <p:cNvPr id="31" name="Text 28"/>
          <p:cNvSpPr/>
          <p:nvPr/>
        </p:nvSpPr>
        <p:spPr>
          <a:xfrm>
            <a:off x="8631936" y="4727448"/>
            <a:ext cx="914400" cy="384048"/>
          </a:xfrm>
          <a:prstGeom prst="rect">
            <a:avLst/>
          </a:prstGeom>
          <a:noFill/>
          <a:ln/>
        </p:spPr>
        <p:txBody>
          <a:bodyPr wrap="square" rtlCol="0" anchor="ctr"/>
          <a:lstStyle/>
          <a:p>
            <a:pPr indent="0" marL="0">
              <a:buNone/>
            </a:pPr>
            <a:r>
              <a:rPr lang="en-US" sz="1300" b="1" dirty="0">
                <a:solidFill>
                  <a:srgbClr val="1D5FD1"/>
                </a:solidFill>
                <a:latin typeface="맑은 고딕" pitchFamily="34" charset="0"/>
                <a:ea typeface="맑은 고딕" pitchFamily="34" charset="-122"/>
                <a:cs typeface="맑은 고딕" pitchFamily="34" charset="-120"/>
              </a:rPr>
              <a:t>$1,596</a:t>
            </a:r>
            <a:endParaRPr lang="en-US" sz="1300" dirty="0"/>
          </a:p>
        </p:txBody>
      </p:sp>
      <p:sp>
        <p:nvSpPr>
          <p:cNvPr id="32" name="Shape 29"/>
          <p:cNvSpPr/>
          <p:nvPr/>
        </p:nvSpPr>
        <p:spPr>
          <a:xfrm>
            <a:off x="731520" y="5257800"/>
            <a:ext cx="3291840" cy="0"/>
          </a:xfrm>
          <a:prstGeom prst="line">
            <a:avLst/>
          </a:prstGeom>
          <a:noFill/>
          <a:ln w="12700">
            <a:solidFill>
              <a:srgbClr val="D9DEE7"/>
            </a:solidFill>
            <a:prstDash val="solid"/>
          </a:ln>
        </p:spPr>
      </p:sp>
      <p:sp>
        <p:nvSpPr>
          <p:cNvPr id="33" name="Text 30"/>
          <p:cNvSpPr/>
          <p:nvPr/>
        </p:nvSpPr>
        <p:spPr>
          <a:xfrm>
            <a:off x="731520" y="5349240"/>
            <a:ext cx="3291840"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$1,596</a:t>
            </a:r>
            <a:endParaRPr lang="en-US" sz="2200" dirty="0"/>
          </a:p>
        </p:txBody>
      </p:sp>
      <p:sp>
        <p:nvSpPr>
          <p:cNvPr id="34" name="Text 31"/>
          <p:cNvSpPr/>
          <p:nvPr/>
        </p:nvSpPr>
        <p:spPr>
          <a:xfrm>
            <a:off x="731520" y="5806440"/>
            <a:ext cx="3291840" cy="27432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일일 연료비 오차 · MLP 최저</a:t>
            </a:r>
            <a:endParaRPr lang="en-US" sz="1200" dirty="0"/>
          </a:p>
        </p:txBody>
      </p:sp>
      <p:sp>
        <p:nvSpPr>
          <p:cNvPr id="35" name="Shape 32"/>
          <p:cNvSpPr/>
          <p:nvPr/>
        </p:nvSpPr>
        <p:spPr>
          <a:xfrm>
            <a:off x="4343400" y="5257800"/>
            <a:ext cx="3291840" cy="0"/>
          </a:xfrm>
          <a:prstGeom prst="line">
            <a:avLst/>
          </a:prstGeom>
          <a:noFill/>
          <a:ln w="12700">
            <a:solidFill>
              <a:srgbClr val="D9DEE7"/>
            </a:solidFill>
            <a:prstDash val="solid"/>
          </a:ln>
        </p:spPr>
      </p:sp>
      <p:sp>
        <p:nvSpPr>
          <p:cNvPr id="36" name="Text 33"/>
          <p:cNvSpPr/>
          <p:nvPr/>
        </p:nvSpPr>
        <p:spPr>
          <a:xfrm>
            <a:off x="4343400" y="5349240"/>
            <a:ext cx="3291840"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0.94 kn</a:t>
            </a:r>
            <a:endParaRPr lang="en-US" sz="2200" dirty="0"/>
          </a:p>
        </p:txBody>
      </p:sp>
      <p:sp>
        <p:nvSpPr>
          <p:cNvPr id="37" name="Text 34"/>
          <p:cNvSpPr/>
          <p:nvPr/>
        </p:nvSpPr>
        <p:spPr>
          <a:xfrm>
            <a:off x="4343400" y="5806440"/>
            <a:ext cx="3291840" cy="27432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속력 오차 · MLP 최저</a:t>
            </a:r>
            <a:endParaRPr lang="en-US" sz="1200" dirty="0"/>
          </a:p>
        </p:txBody>
      </p:sp>
      <p:sp>
        <p:nvSpPr>
          <p:cNvPr id="38" name="Shape 35"/>
          <p:cNvSpPr/>
          <p:nvPr/>
        </p:nvSpPr>
        <p:spPr>
          <a:xfrm>
            <a:off x="7955280" y="5257800"/>
            <a:ext cx="3291840" cy="0"/>
          </a:xfrm>
          <a:prstGeom prst="line">
            <a:avLst/>
          </a:prstGeom>
          <a:noFill/>
          <a:ln w="12700">
            <a:solidFill>
              <a:srgbClr val="D9DEE7"/>
            </a:solidFill>
            <a:prstDash val="solid"/>
          </a:ln>
        </p:spPr>
      </p:sp>
      <p:sp>
        <p:nvSpPr>
          <p:cNvPr id="39" name="Text 36"/>
          <p:cNvSpPr/>
          <p:nvPr/>
        </p:nvSpPr>
        <p:spPr>
          <a:xfrm>
            <a:off x="7955280" y="5349240"/>
            <a:ext cx="3291840" cy="457200"/>
          </a:xfrm>
          <a:prstGeom prst="rect">
            <a:avLst/>
          </a:prstGeom>
          <a:noFill/>
          <a:ln/>
        </p:spPr>
        <p:txBody>
          <a:bodyPr wrap="square" rtlCol="0" anchor="ctr"/>
          <a:lstStyle/>
          <a:p>
            <a:pPr indent="0" marL="0">
              <a:buNone/>
            </a:pPr>
            <a:r>
              <a:rPr lang="en-US" sz="2200" b="1" dirty="0">
                <a:solidFill>
                  <a:srgbClr val="C97A12"/>
                </a:solidFill>
                <a:latin typeface="맑은 고딕" pitchFamily="34" charset="0"/>
                <a:ea typeface="맑은 고딕" pitchFamily="34" charset="-122"/>
                <a:cs typeface="맑은 고딕" pitchFamily="34" charset="-120"/>
              </a:rPr>
              <a:t>평균 우세</a:t>
            </a:r>
            <a:endParaRPr lang="en-US" sz="2200" dirty="0"/>
          </a:p>
        </p:txBody>
      </p:sp>
      <p:sp>
        <p:nvSpPr>
          <p:cNvPr id="40" name="Text 37"/>
          <p:cNvSpPr/>
          <p:nvPr/>
        </p:nvSpPr>
        <p:spPr>
          <a:xfrm>
            <a:off x="7955280" y="5806440"/>
            <a:ext cx="3291840" cy="27432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총소모량 오차 · 지표별 모델 선택 필요</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5225012"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06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DEMO 1 · VOYAGE PLANNING</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항차별 경제 운항 비교</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Freeport → Ningbo · 만재 항차</a:t>
            </a:r>
            <a:endParaRPr lang="en-US" sz="1400" dirty="0"/>
          </a:p>
        </p:txBody>
      </p:sp>
      <p:sp>
        <p:nvSpPr>
          <p:cNvPr id="10" name="Shape 7"/>
          <p:cNvSpPr/>
          <p:nvPr/>
        </p:nvSpPr>
        <p:spPr>
          <a:xfrm>
            <a:off x="713232" y="1810512"/>
            <a:ext cx="7717536" cy="4376318"/>
          </a:xfrm>
          <a:prstGeom prst="rect">
            <a:avLst/>
          </a:prstGeom>
          <a:solidFill>
            <a:srgbClr val="D9DEE7"/>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828800"/>
            <a:ext cx="7680960" cy="4339742"/>
          </a:xfrm>
          <a:prstGeom prst="rect">
            <a:avLst/>
          </a:prstGeom>
        </p:spPr>
      </p:pic>
      <p:sp>
        <p:nvSpPr>
          <p:cNvPr id="12" name="Shape 8"/>
          <p:cNvSpPr/>
          <p:nvPr/>
        </p:nvSpPr>
        <p:spPr>
          <a:xfrm>
            <a:off x="8933688" y="2167128"/>
            <a:ext cx="0" cy="2798064"/>
          </a:xfrm>
          <a:prstGeom prst="line">
            <a:avLst/>
          </a:prstGeom>
          <a:noFill/>
          <a:ln w="19050">
            <a:solidFill>
              <a:srgbClr val="D9DEE7"/>
            </a:solidFill>
            <a:prstDash val="solid"/>
          </a:ln>
        </p:spPr>
      </p:sp>
      <p:sp>
        <p:nvSpPr>
          <p:cNvPr id="13" name="Shape 9"/>
          <p:cNvSpPr/>
          <p:nvPr/>
        </p:nvSpPr>
        <p:spPr>
          <a:xfrm>
            <a:off x="8851392" y="2103120"/>
            <a:ext cx="164592" cy="164592"/>
          </a:xfrm>
          <a:prstGeom prst="ellipse">
            <a:avLst/>
          </a:prstGeom>
          <a:solidFill>
            <a:srgbClr val="1D5FD1"/>
          </a:solidFill>
          <a:ln w="19050">
            <a:solidFill>
              <a:srgbClr val="FFFFFF"/>
            </a:solidFill>
            <a:prstDash val="solid"/>
          </a:ln>
        </p:spPr>
      </p:sp>
      <p:sp>
        <p:nvSpPr>
          <p:cNvPr id="14" name="Text 10"/>
          <p:cNvSpPr/>
          <p:nvPr/>
        </p:nvSpPr>
        <p:spPr>
          <a:xfrm>
            <a:off x="9189720" y="1993392"/>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항로 대안 비교</a:t>
            </a:r>
            <a:endParaRPr lang="en-US" sz="1700" dirty="0"/>
          </a:p>
        </p:txBody>
      </p:sp>
      <p:sp>
        <p:nvSpPr>
          <p:cNvPr id="15" name="Text 11"/>
          <p:cNvSpPr/>
          <p:nvPr/>
        </p:nvSpPr>
        <p:spPr>
          <a:xfrm>
            <a:off x="9189720" y="2359152"/>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파나마 운하 vs 희망봉 경유</a:t>
            </a:r>
            <a:endParaRPr lang="en-US" sz="1200" dirty="0"/>
          </a:p>
        </p:txBody>
      </p:sp>
      <p:sp>
        <p:nvSpPr>
          <p:cNvPr id="16" name="Shape 12"/>
          <p:cNvSpPr/>
          <p:nvPr/>
        </p:nvSpPr>
        <p:spPr>
          <a:xfrm>
            <a:off x="8851392" y="3035808"/>
            <a:ext cx="164592" cy="164592"/>
          </a:xfrm>
          <a:prstGeom prst="ellipse">
            <a:avLst/>
          </a:prstGeom>
          <a:solidFill>
            <a:srgbClr val="1D5FD1"/>
          </a:solidFill>
          <a:ln w="19050">
            <a:solidFill>
              <a:srgbClr val="FFFFFF"/>
            </a:solidFill>
            <a:prstDash val="solid"/>
          </a:ln>
        </p:spPr>
      </p:sp>
      <p:sp>
        <p:nvSpPr>
          <p:cNvPr id="17" name="Text 13"/>
          <p:cNvSpPr/>
          <p:nvPr/>
        </p:nvSpPr>
        <p:spPr>
          <a:xfrm>
            <a:off x="9189720" y="2926080"/>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ML 기반 소모량 예측</a:t>
            </a:r>
            <a:endParaRPr lang="en-US" sz="1700" dirty="0"/>
          </a:p>
        </p:txBody>
      </p:sp>
      <p:sp>
        <p:nvSpPr>
          <p:cNvPr id="18" name="Text 14"/>
          <p:cNvSpPr/>
          <p:nvPr/>
        </p:nvSpPr>
        <p:spPr>
          <a:xfrm>
            <a:off x="9189720" y="3291840"/>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신경망 MLP 일일 소모량</a:t>
            </a:r>
            <a:endParaRPr lang="en-US" sz="1200" dirty="0"/>
          </a:p>
        </p:txBody>
      </p:sp>
      <p:sp>
        <p:nvSpPr>
          <p:cNvPr id="19" name="Shape 15"/>
          <p:cNvSpPr/>
          <p:nvPr/>
        </p:nvSpPr>
        <p:spPr>
          <a:xfrm>
            <a:off x="8851392" y="3968496"/>
            <a:ext cx="164592" cy="164592"/>
          </a:xfrm>
          <a:prstGeom prst="ellipse">
            <a:avLst/>
          </a:prstGeom>
          <a:solidFill>
            <a:srgbClr val="1D5FD1"/>
          </a:solidFill>
          <a:ln w="19050">
            <a:solidFill>
              <a:srgbClr val="FFFFFF"/>
            </a:solidFill>
            <a:prstDash val="solid"/>
          </a:ln>
        </p:spPr>
      </p:sp>
      <p:sp>
        <p:nvSpPr>
          <p:cNvPr id="20" name="Text 16"/>
          <p:cNvSpPr/>
          <p:nvPr/>
        </p:nvSpPr>
        <p:spPr>
          <a:xfrm>
            <a:off x="9189720" y="3858768"/>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기상 · 규제 반영</a:t>
            </a:r>
            <a:endParaRPr lang="en-US" sz="1700" dirty="0"/>
          </a:p>
        </p:txBody>
      </p:sp>
      <p:sp>
        <p:nvSpPr>
          <p:cNvPr id="21" name="Text 17"/>
          <p:cNvSpPr/>
          <p:nvPr/>
        </p:nvSpPr>
        <p:spPr>
          <a:xfrm>
            <a:off x="9189720" y="4224528"/>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BF 6↑ LPG 제한 · ECA MGO</a:t>
            </a:r>
            <a:endParaRPr lang="en-US" sz="1200" dirty="0"/>
          </a:p>
        </p:txBody>
      </p:sp>
      <p:sp>
        <p:nvSpPr>
          <p:cNvPr id="22" name="Shape 18"/>
          <p:cNvSpPr/>
          <p:nvPr/>
        </p:nvSpPr>
        <p:spPr>
          <a:xfrm>
            <a:off x="8851392" y="4901184"/>
            <a:ext cx="164592" cy="164592"/>
          </a:xfrm>
          <a:prstGeom prst="ellipse">
            <a:avLst/>
          </a:prstGeom>
          <a:solidFill>
            <a:srgbClr val="0E8C7E"/>
          </a:solidFill>
          <a:ln w="19050">
            <a:solidFill>
              <a:srgbClr val="FFFFFF"/>
            </a:solidFill>
            <a:prstDash val="solid"/>
          </a:ln>
        </p:spPr>
      </p:sp>
      <p:sp>
        <p:nvSpPr>
          <p:cNvPr id="23" name="Text 19"/>
          <p:cNvSpPr/>
          <p:nvPr/>
        </p:nvSpPr>
        <p:spPr>
          <a:xfrm>
            <a:off x="9189720" y="4791456"/>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경제적 항로 권고</a:t>
            </a:r>
            <a:endParaRPr lang="en-US" sz="1700" dirty="0"/>
          </a:p>
        </p:txBody>
      </p:sp>
      <p:sp>
        <p:nvSpPr>
          <p:cNvPr id="24" name="Text 20"/>
          <p:cNvSpPr/>
          <p:nvPr/>
        </p:nvSpPr>
        <p:spPr>
          <a:xfrm>
            <a:off x="9189720" y="5157216"/>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연료비 + 통행료 + 항해일수</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6095848" cy="45720"/>
          </a:xfrm>
          <a:prstGeom prst="rect">
            <a:avLst/>
          </a:prstGeom>
          <a:solidFill>
            <a:srgbClr val="1D5FD1"/>
          </a:solidFill>
          <a:ln/>
        </p:spPr>
      </p:sp>
      <p:sp>
        <p:nvSpPr>
          <p:cNvPr id="5" name="Shape 2"/>
          <p:cNvSpPr/>
          <p:nvPr/>
        </p:nvSpPr>
        <p:spPr>
          <a:xfrm>
            <a:off x="0" y="0"/>
            <a:ext cx="5513832" cy="6812280"/>
          </a:xfrm>
          <a:prstGeom prst="rect">
            <a:avLst/>
          </a:prstGeom>
          <a:solidFill>
            <a:srgbClr val="0B1F3A"/>
          </a:solidFill>
          <a:ln/>
        </p:spPr>
      </p:sp>
      <p:pic>
        <p:nvPicPr>
          <p:cNvPr id="6" name="Image 0" descr="preencoded.png">    </p:cNvPr>
          <p:cNvPicPr>
            <a:picLocks noChangeAspect="1"/>
          </p:cNvPicPr>
          <p:nvPr/>
        </p:nvPicPr>
        <p:blipFill>
          <a:blip r:embed="rId1"/>
          <a:srcRect l="0" r="0" t="0" b="0"/>
          <a:stretch/>
        </p:blipFill>
        <p:spPr>
          <a:xfrm>
            <a:off x="5513832" y="0"/>
            <a:ext cx="6677863" cy="6812280"/>
          </a:xfrm>
          <a:prstGeom prst="rect">
            <a:avLst/>
          </a:prstGeom>
        </p:spPr>
      </p:pic>
      <p:sp>
        <p:nvSpPr>
          <p:cNvPr id="7" name="Text 3"/>
          <p:cNvSpPr/>
          <p:nvPr/>
        </p:nvSpPr>
        <p:spPr>
          <a:xfrm>
            <a:off x="731520" y="1188720"/>
            <a:ext cx="2743200" cy="914400"/>
          </a:xfrm>
          <a:prstGeom prst="rect">
            <a:avLst/>
          </a:prstGeom>
          <a:noFill/>
          <a:ln/>
        </p:spPr>
        <p:txBody>
          <a:bodyPr wrap="square" rtlCol="0" anchor="ctr"/>
          <a:lstStyle/>
          <a:p>
            <a:pPr indent="0" marL="0">
              <a:buNone/>
            </a:pPr>
            <a:r>
              <a:rPr lang="en-US" sz="6000" b="1" dirty="0">
                <a:solidFill>
                  <a:srgbClr val="6C8EDB"/>
                </a:solidFill>
                <a:latin typeface="맑은 고딕" pitchFamily="34" charset="0"/>
                <a:ea typeface="맑은 고딕" pitchFamily="34" charset="-122"/>
                <a:cs typeface="맑은 고딕" pitchFamily="34" charset="-120"/>
              </a:rPr>
              <a:t>02</a:t>
            </a:r>
            <a:endParaRPr lang="en-US" sz="6000" dirty="0"/>
          </a:p>
        </p:txBody>
      </p:sp>
      <p:sp>
        <p:nvSpPr>
          <p:cNvPr id="8" name="Text 4"/>
          <p:cNvSpPr/>
          <p:nvPr/>
        </p:nvSpPr>
        <p:spPr>
          <a:xfrm>
            <a:off x="731520" y="2240280"/>
            <a:ext cx="4572000" cy="320040"/>
          </a:xfrm>
          <a:prstGeom prst="rect">
            <a:avLst/>
          </a:prstGeom>
          <a:noFill/>
          <a:ln/>
        </p:spPr>
        <p:txBody>
          <a:bodyPr wrap="square" rtlCol="0" anchor="ctr"/>
          <a:lstStyle/>
          <a:p>
            <a:pPr indent="0" marL="0">
              <a:buNone/>
            </a:pPr>
            <a:r>
              <a:rPr lang="en-US" sz="1200" b="1" spc="300" kern="0" dirty="0">
                <a:solidFill>
                  <a:srgbClr val="9DB3E3"/>
                </a:solidFill>
                <a:latin typeface="맑은 고딕" pitchFamily="34" charset="0"/>
                <a:ea typeface="맑은 고딕" pitchFamily="34" charset="-122"/>
                <a:cs typeface="맑은 고딕" pitchFamily="34" charset="-120"/>
              </a:rPr>
              <a:t>SAFETY MONITORING</a:t>
            </a:r>
            <a:endParaRPr lang="en-US" sz="1200" dirty="0"/>
          </a:p>
        </p:txBody>
      </p:sp>
      <p:sp>
        <p:nvSpPr>
          <p:cNvPr id="9" name="Text 5"/>
          <p:cNvSpPr/>
          <p:nvPr/>
        </p:nvSpPr>
        <p:spPr>
          <a:xfrm>
            <a:off x="731520" y="2606040"/>
            <a:ext cx="4754880" cy="822960"/>
          </a:xfrm>
          <a:prstGeom prst="rect">
            <a:avLst/>
          </a:prstGeom>
          <a:noFill/>
          <a:ln/>
        </p:spPr>
        <p:txBody>
          <a:bodyPr wrap="square" rtlCol="0" anchor="ctr"/>
          <a:lstStyle/>
          <a:p>
            <a:pPr indent="0" marL="0">
              <a:buNone/>
            </a:pPr>
            <a:r>
              <a:rPr lang="en-US" sz="3800" b="1" dirty="0">
                <a:solidFill>
                  <a:srgbClr val="FFFFFF"/>
                </a:solidFill>
                <a:latin typeface="맑은 고딕" pitchFamily="34" charset="0"/>
                <a:ea typeface="맑은 고딕" pitchFamily="34" charset="-122"/>
                <a:cs typeface="맑은 고딕" pitchFamily="34" charset="-120"/>
              </a:rPr>
              <a:t>위험작업 인식</a:t>
            </a:r>
            <a:endParaRPr lang="en-US" sz="3800" dirty="0"/>
          </a:p>
        </p:txBody>
      </p:sp>
      <p:sp>
        <p:nvSpPr>
          <p:cNvPr id="10" name="Text 6"/>
          <p:cNvSpPr/>
          <p:nvPr/>
        </p:nvSpPr>
        <p:spPr>
          <a:xfrm>
            <a:off x="731520" y="3383280"/>
            <a:ext cx="4754880" cy="411480"/>
          </a:xfrm>
          <a:prstGeom prst="rect">
            <a:avLst/>
          </a:prstGeom>
          <a:noFill/>
          <a:ln/>
        </p:spPr>
        <p:txBody>
          <a:bodyPr wrap="square" rtlCol="0" anchor="ctr"/>
          <a:lstStyle/>
          <a:p>
            <a:pPr indent="0" marL="0">
              <a:buNone/>
            </a:pPr>
            <a:r>
              <a:rPr lang="en-US" sz="1700" dirty="0">
                <a:solidFill>
                  <a:srgbClr val="C9D5EE"/>
                </a:solidFill>
                <a:latin typeface="맑은 고딕" pitchFamily="34" charset="0"/>
                <a:ea typeface="맑은 고딕" pitchFamily="34" charset="-122"/>
                <a:cs typeface="맑은 고딕" pitchFamily="34" charset="-120"/>
              </a:rPr>
              <a:t>PPE · PERMIT CHECK</a:t>
            </a:r>
            <a:endParaRPr lang="en-US" sz="1700" dirty="0"/>
          </a:p>
        </p:txBody>
      </p:sp>
      <p:sp>
        <p:nvSpPr>
          <p:cNvPr id="11" name="Shape 7"/>
          <p:cNvSpPr/>
          <p:nvPr/>
        </p:nvSpPr>
        <p:spPr>
          <a:xfrm>
            <a:off x="731520" y="4160520"/>
            <a:ext cx="731520" cy="0"/>
          </a:xfrm>
          <a:prstGeom prst="line">
            <a:avLst/>
          </a:prstGeom>
          <a:noFill/>
          <a:ln w="31750">
            <a:solidFill>
              <a:srgbClr val="6C8EDB"/>
            </a:solidFill>
            <a:prstDash val="solid"/>
          </a:ln>
        </p:spPr>
      </p:sp>
      <p:sp>
        <p:nvSpPr>
          <p:cNvPr id="12" name="Text 8"/>
          <p:cNvSpPr/>
          <p:nvPr/>
        </p:nvSpPr>
        <p:spPr>
          <a:xfrm>
            <a:off x="731520" y="4389120"/>
            <a:ext cx="4389120" cy="1188720"/>
          </a:xfrm>
          <a:prstGeom prst="rect">
            <a:avLst/>
          </a:prstGeom>
          <a:noFill/>
          <a:ln/>
        </p:spPr>
        <p:txBody>
          <a:bodyPr wrap="square" rtlCol="0" anchor="t"/>
          <a:lstStyle/>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고위험 작업을 CCTV로 상시 감시하고,</a:t>
            </a:r>
            <a:endParaRPr lang="en-US" sz="1600" dirty="0"/>
          </a:p>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보호구·작업허가 조건 위반을</a:t>
            </a:r>
            <a:endParaRPr lang="en-US" sz="1600" dirty="0"/>
          </a:p>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즉시 탐지할 수 있는가?</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6966683"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08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SYSTEM ARCHITECTURE</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시스템 구성</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사전학습 모델 2종 + 전이학습 모델 1종 + 규정 기반 판단</a:t>
            </a:r>
            <a:endParaRPr lang="en-US" sz="1400" dirty="0"/>
          </a:p>
        </p:txBody>
      </p:sp>
      <p:sp>
        <p:nvSpPr>
          <p:cNvPr id="10" name="Shape 7"/>
          <p:cNvSpPr/>
          <p:nvPr/>
        </p:nvSpPr>
        <p:spPr>
          <a:xfrm>
            <a:off x="731520" y="2148840"/>
            <a:ext cx="2476424" cy="54864"/>
          </a:xfrm>
          <a:prstGeom prst="rect">
            <a:avLst/>
          </a:prstGeom>
          <a:solidFill>
            <a:srgbClr val="1D5FD1"/>
          </a:solidFill>
          <a:ln/>
        </p:spPr>
      </p:sp>
      <p:sp>
        <p:nvSpPr>
          <p:cNvPr id="11" name="Text 8"/>
          <p:cNvSpPr/>
          <p:nvPr/>
        </p:nvSpPr>
        <p:spPr>
          <a:xfrm>
            <a:off x="731520" y="2377440"/>
            <a:ext cx="2476424"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01</a:t>
            </a:r>
            <a:endParaRPr lang="en-US" sz="2200" dirty="0"/>
          </a:p>
        </p:txBody>
      </p:sp>
      <p:sp>
        <p:nvSpPr>
          <p:cNvPr id="12" name="Text 9"/>
          <p:cNvSpPr/>
          <p:nvPr/>
        </p:nvSpPr>
        <p:spPr>
          <a:xfrm>
            <a:off x="731520"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객체 탐지·추적</a:t>
            </a:r>
            <a:endParaRPr lang="en-US" sz="2000" dirty="0"/>
          </a:p>
        </p:txBody>
      </p:sp>
      <p:sp>
        <p:nvSpPr>
          <p:cNvPr id="13" name="Text 10"/>
          <p:cNvSpPr/>
          <p:nvPr/>
        </p:nvSpPr>
        <p:spPr>
          <a:xfrm>
            <a:off x="731520"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YOLO11m · BoT-SORT · ReID</a:t>
            </a:r>
            <a:endParaRPr lang="en-US" sz="1200" dirty="0"/>
          </a:p>
        </p:txBody>
      </p:sp>
      <p:sp>
        <p:nvSpPr>
          <p:cNvPr id="14" name="Text 11"/>
          <p:cNvSpPr/>
          <p:nvPr/>
        </p:nvSpPr>
        <p:spPr>
          <a:xfrm>
            <a:off x="731520"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작업자 위치와 동선을 프레임 간 동일 ID로 추적</a:t>
            </a:r>
            <a:endParaRPr lang="en-US" sz="1300" dirty="0"/>
          </a:p>
        </p:txBody>
      </p:sp>
      <p:sp>
        <p:nvSpPr>
          <p:cNvPr id="15" name="Shape 12"/>
          <p:cNvSpPr/>
          <p:nvPr/>
        </p:nvSpPr>
        <p:spPr>
          <a:xfrm>
            <a:off x="3482264" y="2148840"/>
            <a:ext cx="2476424" cy="54864"/>
          </a:xfrm>
          <a:prstGeom prst="rect">
            <a:avLst/>
          </a:prstGeom>
          <a:solidFill>
            <a:srgbClr val="1D5FD1"/>
          </a:solidFill>
          <a:ln/>
        </p:spPr>
      </p:sp>
      <p:sp>
        <p:nvSpPr>
          <p:cNvPr id="16" name="Text 13"/>
          <p:cNvSpPr/>
          <p:nvPr/>
        </p:nvSpPr>
        <p:spPr>
          <a:xfrm>
            <a:off x="3482264" y="2377440"/>
            <a:ext cx="2476424"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02</a:t>
            </a:r>
            <a:endParaRPr lang="en-US" sz="2200" dirty="0"/>
          </a:p>
        </p:txBody>
      </p:sp>
      <p:sp>
        <p:nvSpPr>
          <p:cNvPr id="17" name="Text 14"/>
          <p:cNvSpPr/>
          <p:nvPr/>
        </p:nvSpPr>
        <p:spPr>
          <a:xfrm>
            <a:off x="3482264"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작업 유형 판별</a:t>
            </a:r>
            <a:endParaRPr lang="en-US" sz="2000" dirty="0"/>
          </a:p>
        </p:txBody>
      </p:sp>
      <p:sp>
        <p:nvSpPr>
          <p:cNvPr id="18" name="Text 15"/>
          <p:cNvSpPr/>
          <p:nvPr/>
        </p:nvSpPr>
        <p:spPr>
          <a:xfrm>
            <a:off x="3482264"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CLIP Zero-shot</a:t>
            </a:r>
            <a:endParaRPr lang="en-US" sz="1200" dirty="0"/>
          </a:p>
        </p:txBody>
      </p:sp>
      <p:sp>
        <p:nvSpPr>
          <p:cNvPr id="19" name="Text 16"/>
          <p:cNvSpPr/>
          <p:nvPr/>
        </p:nvSpPr>
        <p:spPr>
          <a:xfrm>
            <a:off x="3482264"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영상-문장 유사도로 ENCLOSED · MOORING · HOT WORK 등 분류</a:t>
            </a:r>
            <a:endParaRPr lang="en-US" sz="1300" dirty="0"/>
          </a:p>
        </p:txBody>
      </p:sp>
      <p:sp>
        <p:nvSpPr>
          <p:cNvPr id="20" name="Shape 17"/>
          <p:cNvSpPr/>
          <p:nvPr/>
        </p:nvSpPr>
        <p:spPr>
          <a:xfrm>
            <a:off x="6233008" y="2148840"/>
            <a:ext cx="2476424" cy="54864"/>
          </a:xfrm>
          <a:prstGeom prst="rect">
            <a:avLst/>
          </a:prstGeom>
          <a:solidFill>
            <a:srgbClr val="1D5FD1"/>
          </a:solidFill>
          <a:ln/>
        </p:spPr>
      </p:sp>
      <p:sp>
        <p:nvSpPr>
          <p:cNvPr id="21" name="Text 18"/>
          <p:cNvSpPr/>
          <p:nvPr/>
        </p:nvSpPr>
        <p:spPr>
          <a:xfrm>
            <a:off x="6233008" y="2377440"/>
            <a:ext cx="2476424"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03</a:t>
            </a:r>
            <a:endParaRPr lang="en-US" sz="2200" dirty="0"/>
          </a:p>
        </p:txBody>
      </p:sp>
      <p:sp>
        <p:nvSpPr>
          <p:cNvPr id="22" name="Text 19"/>
          <p:cNvSpPr/>
          <p:nvPr/>
        </p:nvSpPr>
        <p:spPr>
          <a:xfrm>
            <a:off x="6233008"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PPE 판별</a:t>
            </a:r>
            <a:endParaRPr lang="en-US" sz="2000" dirty="0"/>
          </a:p>
        </p:txBody>
      </p:sp>
      <p:sp>
        <p:nvSpPr>
          <p:cNvPr id="23" name="Text 20"/>
          <p:cNvSpPr/>
          <p:nvPr/>
        </p:nvSpPr>
        <p:spPr>
          <a:xfrm>
            <a:off x="6233008"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YOLO11m 전이학습 · Pose</a:t>
            </a:r>
            <a:endParaRPr lang="en-US" sz="1200" dirty="0"/>
          </a:p>
        </p:txBody>
      </p:sp>
      <p:sp>
        <p:nvSpPr>
          <p:cNvPr id="24" name="Text 21"/>
          <p:cNvSpPr/>
          <p:nvPr/>
        </p:nvSpPr>
        <p:spPr>
          <a:xfrm>
            <a:off x="6233008"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안전모 · 보안경 · 장갑 · 하네스 착용 여부 판정</a:t>
            </a:r>
            <a:endParaRPr lang="en-US" sz="1300" dirty="0"/>
          </a:p>
        </p:txBody>
      </p:sp>
      <p:sp>
        <p:nvSpPr>
          <p:cNvPr id="25" name="Shape 22"/>
          <p:cNvSpPr/>
          <p:nvPr/>
        </p:nvSpPr>
        <p:spPr>
          <a:xfrm>
            <a:off x="8983751" y="2148840"/>
            <a:ext cx="2476424" cy="54864"/>
          </a:xfrm>
          <a:prstGeom prst="rect">
            <a:avLst/>
          </a:prstGeom>
          <a:solidFill>
            <a:srgbClr val="C8322F"/>
          </a:solidFill>
          <a:ln/>
        </p:spPr>
      </p:sp>
      <p:sp>
        <p:nvSpPr>
          <p:cNvPr id="26" name="Text 23"/>
          <p:cNvSpPr/>
          <p:nvPr/>
        </p:nvSpPr>
        <p:spPr>
          <a:xfrm>
            <a:off x="8983751" y="2377440"/>
            <a:ext cx="2476424" cy="457200"/>
          </a:xfrm>
          <a:prstGeom prst="rect">
            <a:avLst/>
          </a:prstGeom>
          <a:noFill/>
          <a:ln/>
        </p:spPr>
        <p:txBody>
          <a:bodyPr wrap="square" rtlCol="0" anchor="ctr"/>
          <a:lstStyle/>
          <a:p>
            <a:pPr indent="0" marL="0">
              <a:buNone/>
            </a:pPr>
            <a:r>
              <a:rPr lang="en-US" sz="2200" b="1" dirty="0">
                <a:solidFill>
                  <a:srgbClr val="C8322F"/>
                </a:solidFill>
                <a:latin typeface="맑은 고딕" pitchFamily="34" charset="0"/>
                <a:ea typeface="맑은 고딕" pitchFamily="34" charset="-122"/>
                <a:cs typeface="맑은 고딕" pitchFamily="34" charset="-120"/>
              </a:rPr>
              <a:t>04</a:t>
            </a:r>
            <a:endParaRPr lang="en-US" sz="2200" dirty="0"/>
          </a:p>
        </p:txBody>
      </p:sp>
      <p:sp>
        <p:nvSpPr>
          <p:cNvPr id="27" name="Text 24"/>
          <p:cNvSpPr/>
          <p:nvPr/>
        </p:nvSpPr>
        <p:spPr>
          <a:xfrm>
            <a:off x="8983751"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PERMIT CHECK</a:t>
            </a:r>
            <a:endParaRPr lang="en-US" sz="2000" dirty="0"/>
          </a:p>
        </p:txBody>
      </p:sp>
      <p:sp>
        <p:nvSpPr>
          <p:cNvPr id="28" name="Text 25"/>
          <p:cNvSpPr/>
          <p:nvPr/>
        </p:nvSpPr>
        <p:spPr>
          <a:xfrm>
            <a:off x="8983751"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IMO MSC.581(110) · 사내 규정</a:t>
            </a:r>
            <a:endParaRPr lang="en-US" sz="1200" dirty="0"/>
          </a:p>
        </p:txBody>
      </p:sp>
      <p:sp>
        <p:nvSpPr>
          <p:cNvPr id="29" name="Text 26"/>
          <p:cNvSpPr/>
          <p:nvPr/>
        </p:nvSpPr>
        <p:spPr>
          <a:xfrm>
            <a:off x="8983751"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진입 절차 확인, 체류시간·가스측정 기준 위반 경보</a:t>
            </a:r>
            <a:endParaRPr lang="en-US" sz="1300" dirty="0"/>
          </a:p>
        </p:txBody>
      </p:sp>
      <p:sp>
        <p:nvSpPr>
          <p:cNvPr id="30" name="Shape 27"/>
          <p:cNvSpPr/>
          <p:nvPr/>
        </p:nvSpPr>
        <p:spPr>
          <a:xfrm>
            <a:off x="731520" y="5074920"/>
            <a:ext cx="10728655" cy="685800"/>
          </a:xfrm>
          <a:prstGeom prst="rect">
            <a:avLst/>
          </a:prstGeom>
          <a:solidFill>
            <a:srgbClr val="F4F6FA"/>
          </a:solidFill>
          <a:ln/>
        </p:spPr>
      </p:sp>
      <p:sp>
        <p:nvSpPr>
          <p:cNvPr id="31" name="Text 28"/>
          <p:cNvSpPr/>
          <p:nvPr/>
        </p:nvSpPr>
        <p:spPr>
          <a:xfrm>
            <a:off x="1005840" y="5074920"/>
            <a:ext cx="10180015" cy="685800"/>
          </a:xfrm>
          <a:prstGeom prst="rect">
            <a:avLst/>
          </a:prstGeom>
          <a:noFill/>
          <a:ln/>
        </p:spPr>
        <p:txBody>
          <a:bodyPr wrap="square" rtlCol="0" anchor="ctr"/>
          <a:lstStyle/>
          <a:p>
            <a:pPr indent="0" marL="0">
              <a:buNone/>
            </a:pPr>
            <a:r>
              <a:rPr lang="en-US" sz="1400" b="1" dirty="0">
                <a:solidFill>
                  <a:srgbClr val="5B6575"/>
                </a:solidFill>
                <a:latin typeface="맑은 고딕" pitchFamily="34" charset="0"/>
                <a:ea typeface="맑은 고딕" pitchFamily="34" charset="-122"/>
                <a:cs typeface="맑은 고딕" pitchFamily="34" charset="-120"/>
              </a:rPr>
              <a:t>입력</a:t>
            </a:r>
            <a:pPr indent="0" marL="0">
              <a:buNone/>
            </a:pPr>
            <a:r>
              <a:rPr lang="en-US" sz="1400" dirty="0">
                <a:solidFill>
                  <a:srgbClr val="1F2937"/>
                </a:solidFill>
                <a:latin typeface="맑은 고딕" pitchFamily="34" charset="0"/>
                <a:ea typeface="맑은 고딕" pitchFamily="34" charset="-122"/>
                <a:cs typeface="맑은 고딕" pitchFamily="34" charset="-120"/>
              </a:rPr>
              <a:t>  선내 CCTV 영상 (방폭 카메라)          </a:t>
            </a:r>
            <a:pPr indent="0" marL="0">
              <a:buNone/>
            </a:pPr>
            <a:r>
              <a:rPr lang="en-US" sz="1400" b="1" dirty="0">
                <a:solidFill>
                  <a:srgbClr val="5B6575"/>
                </a:solidFill>
                <a:latin typeface="맑은 고딕" pitchFamily="34" charset="0"/>
                <a:ea typeface="맑은 고딕" pitchFamily="34" charset="-122"/>
                <a:cs typeface="맑은 고딕" pitchFamily="34" charset="-120"/>
              </a:rPr>
              <a:t>출력</a:t>
            </a:r>
            <a:pPr indent="0" marL="0">
              <a:buNone/>
            </a:pPr>
            <a:r>
              <a:rPr lang="en-US" sz="1400" dirty="0">
                <a:solidFill>
                  <a:srgbClr val="1F2937"/>
                </a:solidFill>
                <a:latin typeface="맑은 고딕" pitchFamily="34" charset="0"/>
                <a:ea typeface="맑은 고딕" pitchFamily="34" charset="-122"/>
                <a:cs typeface="맑은 고딕" pitchFamily="34" charset="-120"/>
              </a:rPr>
              <a:t>  작업 유형 · 인원 · PPE 상태 · 허가 조건 경보</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7837518"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09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DEMO 2 · ENCLOSED SPACE</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밀폐구역 진입 감지 및 PERMIT CHECK</a:t>
            </a:r>
            <a:endParaRPr lang="en-US" sz="3000" dirty="0"/>
          </a:p>
        </p:txBody>
      </p:sp>
      <p:sp>
        <p:nvSpPr>
          <p:cNvPr id="9" name="Shape 6"/>
          <p:cNvSpPr/>
          <p:nvPr/>
        </p:nvSpPr>
        <p:spPr>
          <a:xfrm>
            <a:off x="713232" y="1581912"/>
            <a:ext cx="6520503" cy="4608576"/>
          </a:xfrm>
          <a:prstGeom prst="rect">
            <a:avLst/>
          </a:prstGeom>
          <a:solidFill>
            <a:srgbClr val="D9DEE7"/>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600200"/>
            <a:ext cx="6483927" cy="4572000"/>
          </a:xfrm>
          <a:prstGeom prst="rect">
            <a:avLst/>
          </a:prstGeom>
        </p:spPr>
      </p:pic>
      <p:sp>
        <p:nvSpPr>
          <p:cNvPr id="11" name="Shape 7"/>
          <p:cNvSpPr/>
          <p:nvPr/>
        </p:nvSpPr>
        <p:spPr>
          <a:xfrm>
            <a:off x="7736655" y="1984248"/>
            <a:ext cx="0" cy="2798064"/>
          </a:xfrm>
          <a:prstGeom prst="line">
            <a:avLst/>
          </a:prstGeom>
          <a:noFill/>
          <a:ln w="19050">
            <a:solidFill>
              <a:srgbClr val="D9DEE7"/>
            </a:solidFill>
            <a:prstDash val="solid"/>
          </a:ln>
        </p:spPr>
      </p:sp>
      <p:sp>
        <p:nvSpPr>
          <p:cNvPr id="12" name="Shape 8"/>
          <p:cNvSpPr/>
          <p:nvPr/>
        </p:nvSpPr>
        <p:spPr>
          <a:xfrm>
            <a:off x="7654359" y="1920240"/>
            <a:ext cx="164592" cy="164592"/>
          </a:xfrm>
          <a:prstGeom prst="ellipse">
            <a:avLst/>
          </a:prstGeom>
          <a:solidFill>
            <a:srgbClr val="1D5FD1"/>
          </a:solidFill>
          <a:ln w="19050">
            <a:solidFill>
              <a:srgbClr val="FFFFFF"/>
            </a:solidFill>
            <a:prstDash val="solid"/>
          </a:ln>
        </p:spPr>
      </p:sp>
      <p:sp>
        <p:nvSpPr>
          <p:cNvPr id="13" name="Text 9"/>
          <p:cNvSpPr/>
          <p:nvPr/>
        </p:nvSpPr>
        <p:spPr>
          <a:xfrm>
            <a:off x="7992687" y="1810512"/>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맨홀 자동 탐지</a:t>
            </a:r>
            <a:endParaRPr lang="en-US" sz="1700" dirty="0"/>
          </a:p>
        </p:txBody>
      </p:sp>
      <p:sp>
        <p:nvSpPr>
          <p:cNvPr id="14" name="Text 10"/>
          <p:cNvSpPr/>
          <p:nvPr/>
        </p:nvSpPr>
        <p:spPr>
          <a:xfrm>
            <a:off x="7992687" y="2176272"/>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구역을 ENCLOSED SPACE로 지정</a:t>
            </a:r>
            <a:endParaRPr lang="en-US" sz="1200" dirty="0"/>
          </a:p>
        </p:txBody>
      </p:sp>
      <p:sp>
        <p:nvSpPr>
          <p:cNvPr id="15" name="Shape 11"/>
          <p:cNvSpPr/>
          <p:nvPr/>
        </p:nvSpPr>
        <p:spPr>
          <a:xfrm>
            <a:off x="7654359" y="2852928"/>
            <a:ext cx="164592" cy="164592"/>
          </a:xfrm>
          <a:prstGeom prst="ellipse">
            <a:avLst/>
          </a:prstGeom>
          <a:solidFill>
            <a:srgbClr val="1D5FD1"/>
          </a:solidFill>
          <a:ln w="19050">
            <a:solidFill>
              <a:srgbClr val="FFFFFF"/>
            </a:solidFill>
            <a:prstDash val="solid"/>
          </a:ln>
        </p:spPr>
      </p:sp>
      <p:sp>
        <p:nvSpPr>
          <p:cNvPr id="16" name="Text 12"/>
          <p:cNvSpPr/>
          <p:nvPr/>
        </p:nvSpPr>
        <p:spPr>
          <a:xfrm>
            <a:off x="7992687" y="2743200"/>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진입 감지 · 타이머 시작</a:t>
            </a:r>
            <a:endParaRPr lang="en-US" sz="1700" dirty="0"/>
          </a:p>
        </p:txBody>
      </p:sp>
      <p:sp>
        <p:nvSpPr>
          <p:cNvPr id="17" name="Text 13"/>
          <p:cNvSpPr/>
          <p:nvPr/>
        </p:nvSpPr>
        <p:spPr>
          <a:xfrm>
            <a:off x="7992687" y="3108960"/>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작업자 소실 시점을 진입으로 기록</a:t>
            </a:r>
            <a:endParaRPr lang="en-US" sz="1200" dirty="0"/>
          </a:p>
        </p:txBody>
      </p:sp>
      <p:sp>
        <p:nvSpPr>
          <p:cNvPr id="18" name="Shape 14"/>
          <p:cNvSpPr/>
          <p:nvPr/>
        </p:nvSpPr>
        <p:spPr>
          <a:xfrm>
            <a:off x="7654359" y="3785616"/>
            <a:ext cx="164592" cy="164592"/>
          </a:xfrm>
          <a:prstGeom prst="ellipse">
            <a:avLst/>
          </a:prstGeom>
          <a:solidFill>
            <a:srgbClr val="1D5FD1"/>
          </a:solidFill>
          <a:ln w="19050">
            <a:solidFill>
              <a:srgbClr val="FFFFFF"/>
            </a:solidFill>
            <a:prstDash val="solid"/>
          </a:ln>
        </p:spPr>
      </p:sp>
      <p:sp>
        <p:nvSpPr>
          <p:cNvPr id="19" name="Text 15"/>
          <p:cNvSpPr/>
          <p:nvPr/>
        </p:nvSpPr>
        <p:spPr>
          <a:xfrm>
            <a:off x="7992687" y="3675888"/>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PERMIT CHECK</a:t>
            </a:r>
            <a:endParaRPr lang="en-US" sz="1700" dirty="0"/>
          </a:p>
        </p:txBody>
      </p:sp>
      <p:sp>
        <p:nvSpPr>
          <p:cNvPr id="20" name="Text 16"/>
          <p:cNvSpPr/>
          <p:nvPr/>
        </p:nvSpPr>
        <p:spPr>
          <a:xfrm>
            <a:off x="7992687" y="4041648"/>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IMO 진입 절차 11개 항목 확인</a:t>
            </a:r>
            <a:endParaRPr lang="en-US" sz="1200" dirty="0"/>
          </a:p>
        </p:txBody>
      </p:sp>
      <p:sp>
        <p:nvSpPr>
          <p:cNvPr id="21" name="Shape 17"/>
          <p:cNvSpPr/>
          <p:nvPr/>
        </p:nvSpPr>
        <p:spPr>
          <a:xfrm>
            <a:off x="7654359" y="4718304"/>
            <a:ext cx="164592" cy="164592"/>
          </a:xfrm>
          <a:prstGeom prst="ellipse">
            <a:avLst/>
          </a:prstGeom>
          <a:solidFill>
            <a:srgbClr val="C8322F"/>
          </a:solidFill>
          <a:ln w="19050">
            <a:solidFill>
              <a:srgbClr val="FFFFFF"/>
            </a:solidFill>
            <a:prstDash val="solid"/>
          </a:ln>
        </p:spPr>
      </p:sp>
      <p:sp>
        <p:nvSpPr>
          <p:cNvPr id="22" name="Text 18"/>
          <p:cNvSpPr/>
          <p:nvPr/>
        </p:nvSpPr>
        <p:spPr>
          <a:xfrm>
            <a:off x="7992687" y="4608576"/>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체류 30분 초과 경보</a:t>
            </a:r>
            <a:endParaRPr lang="en-US" sz="1700" dirty="0"/>
          </a:p>
        </p:txBody>
      </p:sp>
      <p:sp>
        <p:nvSpPr>
          <p:cNvPr id="23" name="Text 19"/>
          <p:cNvSpPr/>
          <p:nvPr/>
        </p:nvSpPr>
        <p:spPr>
          <a:xfrm>
            <a:off x="7992687" y="4974336"/>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퇴장 및 가스 재측정 요구</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8708354"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10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DEMO 3 · MOORING</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작업 유형 판별과 PPE 기준 적용</a:t>
            </a:r>
            <a:endParaRPr lang="en-US" sz="3000" dirty="0"/>
          </a:p>
        </p:txBody>
      </p:sp>
      <p:sp>
        <p:nvSpPr>
          <p:cNvPr id="9" name="Shape 6"/>
          <p:cNvSpPr/>
          <p:nvPr/>
        </p:nvSpPr>
        <p:spPr>
          <a:xfrm>
            <a:off x="713232" y="1536192"/>
            <a:ext cx="2581034" cy="4654296"/>
          </a:xfrm>
          <a:prstGeom prst="rect">
            <a:avLst/>
          </a:prstGeom>
          <a:solidFill>
            <a:srgbClr val="D9DEE7"/>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554480"/>
            <a:ext cx="2544458" cy="4617720"/>
          </a:xfrm>
          <a:prstGeom prst="rect">
            <a:avLst/>
          </a:prstGeom>
        </p:spPr>
      </p:pic>
      <p:sp>
        <p:nvSpPr>
          <p:cNvPr id="11" name="Shape 7"/>
          <p:cNvSpPr/>
          <p:nvPr/>
        </p:nvSpPr>
        <p:spPr>
          <a:xfrm>
            <a:off x="3934346" y="1938528"/>
            <a:ext cx="0" cy="2798064"/>
          </a:xfrm>
          <a:prstGeom prst="line">
            <a:avLst/>
          </a:prstGeom>
          <a:noFill/>
          <a:ln w="19050">
            <a:solidFill>
              <a:srgbClr val="D9DEE7"/>
            </a:solidFill>
            <a:prstDash val="solid"/>
          </a:ln>
        </p:spPr>
      </p:sp>
      <p:sp>
        <p:nvSpPr>
          <p:cNvPr id="12" name="Shape 8"/>
          <p:cNvSpPr/>
          <p:nvPr/>
        </p:nvSpPr>
        <p:spPr>
          <a:xfrm>
            <a:off x="3852050" y="1874520"/>
            <a:ext cx="164592" cy="164592"/>
          </a:xfrm>
          <a:prstGeom prst="ellipse">
            <a:avLst/>
          </a:prstGeom>
          <a:solidFill>
            <a:srgbClr val="1D5FD1"/>
          </a:solidFill>
          <a:ln w="19050">
            <a:solidFill>
              <a:srgbClr val="FFFFFF"/>
            </a:solidFill>
            <a:prstDash val="solid"/>
          </a:ln>
        </p:spPr>
      </p:sp>
      <p:sp>
        <p:nvSpPr>
          <p:cNvPr id="13" name="Text 9"/>
          <p:cNvSpPr/>
          <p:nvPr/>
        </p:nvSpPr>
        <p:spPr>
          <a:xfrm>
            <a:off x="4190378" y="1764792"/>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작업 유형 판별</a:t>
            </a:r>
            <a:endParaRPr lang="en-US" sz="1700" dirty="0"/>
          </a:p>
        </p:txBody>
      </p:sp>
      <p:sp>
        <p:nvSpPr>
          <p:cNvPr id="14" name="Text 10"/>
          <p:cNvSpPr/>
          <p:nvPr/>
        </p:nvSpPr>
        <p:spPr>
          <a:xfrm>
            <a:off x="4190378" y="2130552"/>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화면 전체 분석 → MOORING (CLIP Zero-shot)</a:t>
            </a:r>
            <a:endParaRPr lang="en-US" sz="1200" dirty="0"/>
          </a:p>
        </p:txBody>
      </p:sp>
      <p:sp>
        <p:nvSpPr>
          <p:cNvPr id="15" name="Shape 11"/>
          <p:cNvSpPr/>
          <p:nvPr/>
        </p:nvSpPr>
        <p:spPr>
          <a:xfrm>
            <a:off x="3852050" y="2807208"/>
            <a:ext cx="164592" cy="164592"/>
          </a:xfrm>
          <a:prstGeom prst="ellipse">
            <a:avLst/>
          </a:prstGeom>
          <a:solidFill>
            <a:srgbClr val="1D5FD1"/>
          </a:solidFill>
          <a:ln w="19050">
            <a:solidFill>
              <a:srgbClr val="FFFFFF"/>
            </a:solidFill>
            <a:prstDash val="solid"/>
          </a:ln>
        </p:spPr>
      </p:sp>
      <p:sp>
        <p:nvSpPr>
          <p:cNvPr id="16" name="Text 12"/>
          <p:cNvSpPr/>
          <p:nvPr/>
        </p:nvSpPr>
        <p:spPr>
          <a:xfrm>
            <a:off x="4190378" y="2697480"/>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작업별 PPE 기준 적용</a:t>
            </a:r>
            <a:endParaRPr lang="en-US" sz="1700" dirty="0"/>
          </a:p>
        </p:txBody>
      </p:sp>
      <p:sp>
        <p:nvSpPr>
          <p:cNvPr id="17" name="Text 13"/>
          <p:cNvSpPr/>
          <p:nvPr/>
        </p:nvSpPr>
        <p:spPr>
          <a:xfrm>
            <a:off x="4190378" y="3063240"/>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안전모 · 보안경 + 장갑 착용 필수</a:t>
            </a:r>
            <a:endParaRPr lang="en-US" sz="1200" dirty="0"/>
          </a:p>
        </p:txBody>
      </p:sp>
      <p:sp>
        <p:nvSpPr>
          <p:cNvPr id="18" name="Shape 14"/>
          <p:cNvSpPr/>
          <p:nvPr/>
        </p:nvSpPr>
        <p:spPr>
          <a:xfrm>
            <a:off x="3852050" y="3739896"/>
            <a:ext cx="164592" cy="164592"/>
          </a:xfrm>
          <a:prstGeom prst="ellipse">
            <a:avLst/>
          </a:prstGeom>
          <a:solidFill>
            <a:srgbClr val="1D5FD1"/>
          </a:solidFill>
          <a:ln w="19050">
            <a:solidFill>
              <a:srgbClr val="FFFFFF"/>
            </a:solidFill>
            <a:prstDash val="solid"/>
          </a:ln>
        </p:spPr>
      </p:sp>
      <p:sp>
        <p:nvSpPr>
          <p:cNvPr id="19" name="Text 15"/>
          <p:cNvSpPr/>
          <p:nvPr/>
        </p:nvSpPr>
        <p:spPr>
          <a:xfrm>
            <a:off x="4190378" y="3630168"/>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작업자별 착용 상태 표시</a:t>
            </a:r>
            <a:endParaRPr lang="en-US" sz="1700" dirty="0"/>
          </a:p>
        </p:txBody>
      </p:sp>
      <p:sp>
        <p:nvSpPr>
          <p:cNvPr id="20" name="Text 16"/>
          <p:cNvSpPr/>
          <p:nvPr/>
        </p:nvSpPr>
        <p:spPr>
          <a:xfrm>
            <a:off x="4190378" y="3995928"/>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H 안전모 · G 보안경 · GL 장갑</a:t>
            </a:r>
            <a:endParaRPr lang="en-US" sz="1200" dirty="0"/>
          </a:p>
        </p:txBody>
      </p:sp>
      <p:sp>
        <p:nvSpPr>
          <p:cNvPr id="21" name="Shape 17"/>
          <p:cNvSpPr/>
          <p:nvPr/>
        </p:nvSpPr>
        <p:spPr>
          <a:xfrm>
            <a:off x="3852050" y="4672584"/>
            <a:ext cx="164592" cy="164592"/>
          </a:xfrm>
          <a:prstGeom prst="ellipse">
            <a:avLst/>
          </a:prstGeom>
          <a:solidFill>
            <a:srgbClr val="C8322F"/>
          </a:solidFill>
          <a:ln w="19050">
            <a:solidFill>
              <a:srgbClr val="FFFFFF"/>
            </a:solidFill>
            <a:prstDash val="solid"/>
          </a:ln>
        </p:spPr>
      </p:sp>
      <p:sp>
        <p:nvSpPr>
          <p:cNvPr id="22" name="Text 18"/>
          <p:cNvSpPr/>
          <p:nvPr/>
        </p:nvSpPr>
        <p:spPr>
          <a:xfrm>
            <a:off x="4190378" y="4562856"/>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미착용 시 경보</a:t>
            </a:r>
            <a:endParaRPr lang="en-US" sz="1700" dirty="0"/>
          </a:p>
        </p:txBody>
      </p:sp>
      <p:sp>
        <p:nvSpPr>
          <p:cNvPr id="23" name="Text 19"/>
          <p:cNvSpPr/>
          <p:nvPr/>
        </p:nvSpPr>
        <p:spPr>
          <a:xfrm>
            <a:off x="4190378" y="4928616"/>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작업자 ID · 항목별 알림</a:t>
            </a:r>
            <a:endParaRPr lang="en-US" sz="1200" dirty="0"/>
          </a:p>
        </p:txBody>
      </p:sp>
      <p:sp>
        <p:nvSpPr>
          <p:cNvPr id="24" name="Shape 20"/>
          <p:cNvSpPr/>
          <p:nvPr/>
        </p:nvSpPr>
        <p:spPr>
          <a:xfrm>
            <a:off x="3916058" y="5715000"/>
            <a:ext cx="201168" cy="201168"/>
          </a:xfrm>
          <a:prstGeom prst="rect">
            <a:avLst/>
          </a:prstGeom>
          <a:solidFill>
            <a:srgbClr val="0E8C7E"/>
          </a:solidFill>
          <a:ln/>
        </p:spPr>
      </p:sp>
      <p:sp>
        <p:nvSpPr>
          <p:cNvPr id="25" name="Text 21"/>
          <p:cNvSpPr/>
          <p:nvPr/>
        </p:nvSpPr>
        <p:spPr>
          <a:xfrm>
            <a:off x="4190378" y="5641848"/>
            <a:ext cx="1188720" cy="347472"/>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확인</a:t>
            </a:r>
            <a:endParaRPr lang="en-US" sz="1200" dirty="0"/>
          </a:p>
        </p:txBody>
      </p:sp>
      <p:sp>
        <p:nvSpPr>
          <p:cNvPr id="26" name="Shape 22"/>
          <p:cNvSpPr/>
          <p:nvPr/>
        </p:nvSpPr>
        <p:spPr>
          <a:xfrm>
            <a:off x="5424818" y="5715000"/>
            <a:ext cx="201168" cy="201168"/>
          </a:xfrm>
          <a:prstGeom prst="rect">
            <a:avLst/>
          </a:prstGeom>
          <a:solidFill>
            <a:srgbClr val="C8322F"/>
          </a:solidFill>
          <a:ln/>
        </p:spPr>
      </p:sp>
      <p:sp>
        <p:nvSpPr>
          <p:cNvPr id="27" name="Text 23"/>
          <p:cNvSpPr/>
          <p:nvPr/>
        </p:nvSpPr>
        <p:spPr>
          <a:xfrm>
            <a:off x="5699138" y="5641848"/>
            <a:ext cx="1188720" cy="347472"/>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미착용</a:t>
            </a:r>
            <a:endParaRPr lang="en-US" sz="1200" dirty="0"/>
          </a:p>
        </p:txBody>
      </p:sp>
      <p:sp>
        <p:nvSpPr>
          <p:cNvPr id="28" name="Shape 24"/>
          <p:cNvSpPr/>
          <p:nvPr/>
        </p:nvSpPr>
        <p:spPr>
          <a:xfrm>
            <a:off x="6933578" y="5715000"/>
            <a:ext cx="201168" cy="201168"/>
          </a:xfrm>
          <a:prstGeom prst="rect">
            <a:avLst/>
          </a:prstGeom>
          <a:solidFill>
            <a:srgbClr val="8A93A3"/>
          </a:solidFill>
          <a:ln/>
        </p:spPr>
      </p:sp>
      <p:sp>
        <p:nvSpPr>
          <p:cNvPr id="29" name="Text 25"/>
          <p:cNvSpPr/>
          <p:nvPr/>
        </p:nvSpPr>
        <p:spPr>
          <a:xfrm>
            <a:off x="7207898" y="5641848"/>
            <a:ext cx="1188720" cy="347472"/>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판단 보류</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9579189"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11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RESULTS</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검증 결과</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선박 작업 공개 영상 기준 · 동일 조건 비교</a:t>
            </a:r>
            <a:endParaRPr lang="en-US" sz="1400" dirty="0"/>
          </a:p>
        </p:txBody>
      </p:sp>
      <p:sp>
        <p:nvSpPr>
          <p:cNvPr id="10" name="Shape 7"/>
          <p:cNvSpPr/>
          <p:nvPr/>
        </p:nvSpPr>
        <p:spPr>
          <a:xfrm>
            <a:off x="731520" y="2103120"/>
            <a:ext cx="2476424" cy="0"/>
          </a:xfrm>
          <a:prstGeom prst="line">
            <a:avLst/>
          </a:prstGeom>
          <a:noFill/>
          <a:ln w="12700">
            <a:solidFill>
              <a:srgbClr val="D9DEE7"/>
            </a:solidFill>
            <a:prstDash val="solid"/>
          </a:ln>
        </p:spPr>
      </p:sp>
      <p:sp>
        <p:nvSpPr>
          <p:cNvPr id="11" name="Text 8"/>
          <p:cNvSpPr/>
          <p:nvPr/>
        </p:nvSpPr>
        <p:spPr>
          <a:xfrm>
            <a:off x="731520" y="2240280"/>
            <a:ext cx="2476424" cy="914400"/>
          </a:xfrm>
          <a:prstGeom prst="rect">
            <a:avLst/>
          </a:prstGeom>
          <a:noFill/>
          <a:ln/>
        </p:spPr>
        <p:txBody>
          <a:bodyPr wrap="square" rtlCol="0" anchor="ctr"/>
          <a:lstStyle/>
          <a:p>
            <a:pPr indent="0" marL="0">
              <a:buNone/>
            </a:pPr>
            <a:r>
              <a:rPr lang="en-US" sz="4400" b="1" dirty="0">
                <a:solidFill>
                  <a:srgbClr val="1D5FD1"/>
                </a:solidFill>
                <a:latin typeface="맑은 고딕" pitchFamily="34" charset="0"/>
                <a:ea typeface="맑은 고딕" pitchFamily="34" charset="-122"/>
                <a:cs typeface="맑은 고딕" pitchFamily="34" charset="-120"/>
              </a:rPr>
              <a:t>89%</a:t>
            </a:r>
            <a:endParaRPr lang="en-US" sz="4400" dirty="0"/>
          </a:p>
        </p:txBody>
      </p:sp>
      <p:sp>
        <p:nvSpPr>
          <p:cNvPr id="12" name="Text 9"/>
          <p:cNvSpPr/>
          <p:nvPr/>
        </p:nvSpPr>
        <p:spPr>
          <a:xfrm>
            <a:off x="731520"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작업 유형 판별</a:t>
            </a:r>
            <a:endParaRPr lang="en-US" sz="1500" dirty="0"/>
          </a:p>
        </p:txBody>
      </p:sp>
      <p:sp>
        <p:nvSpPr>
          <p:cNvPr id="13" name="Text 10"/>
          <p:cNvSpPr/>
          <p:nvPr/>
        </p:nvSpPr>
        <p:spPr>
          <a:xfrm>
            <a:off x="731520"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직접 학습 모델 79% 대비 +10%p</a:t>
            </a:r>
            <a:endParaRPr lang="en-US" sz="1200" dirty="0"/>
          </a:p>
        </p:txBody>
      </p:sp>
      <p:sp>
        <p:nvSpPr>
          <p:cNvPr id="14" name="Shape 11"/>
          <p:cNvSpPr/>
          <p:nvPr/>
        </p:nvSpPr>
        <p:spPr>
          <a:xfrm>
            <a:off x="3482264" y="2103120"/>
            <a:ext cx="2476424" cy="0"/>
          </a:xfrm>
          <a:prstGeom prst="line">
            <a:avLst/>
          </a:prstGeom>
          <a:noFill/>
          <a:ln w="12700">
            <a:solidFill>
              <a:srgbClr val="D9DEE7"/>
            </a:solidFill>
            <a:prstDash val="solid"/>
          </a:ln>
        </p:spPr>
      </p:sp>
      <p:sp>
        <p:nvSpPr>
          <p:cNvPr id="15" name="Text 12"/>
          <p:cNvSpPr/>
          <p:nvPr/>
        </p:nvSpPr>
        <p:spPr>
          <a:xfrm>
            <a:off x="3482264" y="2240280"/>
            <a:ext cx="2476424" cy="914400"/>
          </a:xfrm>
          <a:prstGeom prst="rect">
            <a:avLst/>
          </a:prstGeom>
          <a:noFill/>
          <a:ln/>
        </p:spPr>
        <p:txBody>
          <a:bodyPr wrap="square" rtlCol="0" anchor="ctr"/>
          <a:lstStyle/>
          <a:p>
            <a:pPr indent="0" marL="0">
              <a:buNone/>
            </a:pPr>
            <a:r>
              <a:rPr lang="en-US" sz="4400" b="1" dirty="0">
                <a:solidFill>
                  <a:srgbClr val="1D5FD1"/>
                </a:solidFill>
                <a:latin typeface="맑은 고딕" pitchFamily="34" charset="0"/>
                <a:ea typeface="맑은 고딕" pitchFamily="34" charset="-122"/>
                <a:cs typeface="맑은 고딕" pitchFamily="34" charset="-120"/>
              </a:rPr>
              <a:t>96%</a:t>
            </a:r>
            <a:endParaRPr lang="en-US" sz="4400" dirty="0"/>
          </a:p>
        </p:txBody>
      </p:sp>
      <p:sp>
        <p:nvSpPr>
          <p:cNvPr id="16" name="Text 13"/>
          <p:cNvSpPr/>
          <p:nvPr/>
        </p:nvSpPr>
        <p:spPr>
          <a:xfrm>
            <a:off x="3482264"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안전모 판정 (작업자 기준)</a:t>
            </a:r>
            <a:endParaRPr lang="en-US" sz="1500" dirty="0"/>
          </a:p>
        </p:txBody>
      </p:sp>
      <p:sp>
        <p:nvSpPr>
          <p:cNvPr id="17" name="Text 14"/>
          <p:cNvSpPr/>
          <p:nvPr/>
        </p:nvSpPr>
        <p:spPr>
          <a:xfrm>
            <a:off x="3482264"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모델 단독 79% → 현장 규칙 결합</a:t>
            </a:r>
            <a:endParaRPr lang="en-US" sz="1200" dirty="0"/>
          </a:p>
        </p:txBody>
      </p:sp>
      <p:sp>
        <p:nvSpPr>
          <p:cNvPr id="18" name="Shape 15"/>
          <p:cNvSpPr/>
          <p:nvPr/>
        </p:nvSpPr>
        <p:spPr>
          <a:xfrm>
            <a:off x="6233008" y="2103120"/>
            <a:ext cx="2476424" cy="0"/>
          </a:xfrm>
          <a:prstGeom prst="line">
            <a:avLst/>
          </a:prstGeom>
          <a:noFill/>
          <a:ln w="12700">
            <a:solidFill>
              <a:srgbClr val="D9DEE7"/>
            </a:solidFill>
            <a:prstDash val="solid"/>
          </a:ln>
        </p:spPr>
      </p:sp>
      <p:sp>
        <p:nvSpPr>
          <p:cNvPr id="19" name="Text 16"/>
          <p:cNvSpPr/>
          <p:nvPr/>
        </p:nvSpPr>
        <p:spPr>
          <a:xfrm>
            <a:off x="6233008" y="2240280"/>
            <a:ext cx="2476424" cy="914400"/>
          </a:xfrm>
          <a:prstGeom prst="rect">
            <a:avLst/>
          </a:prstGeom>
          <a:noFill/>
          <a:ln/>
        </p:spPr>
        <p:txBody>
          <a:bodyPr wrap="square" rtlCol="0" anchor="ctr"/>
          <a:lstStyle/>
          <a:p>
            <a:pPr indent="0" marL="0">
              <a:buNone/>
            </a:pPr>
            <a:r>
              <a:rPr lang="en-US" sz="4400" b="1" dirty="0">
                <a:solidFill>
                  <a:srgbClr val="0B1F3A"/>
                </a:solidFill>
                <a:latin typeface="맑은 고딕" pitchFamily="34" charset="0"/>
                <a:ea typeface="맑은 고딕" pitchFamily="34" charset="-122"/>
                <a:cs typeface="맑은 고딕" pitchFamily="34" charset="-120"/>
              </a:rPr>
              <a:t>32 → 6</a:t>
            </a:r>
            <a:endParaRPr lang="en-US" sz="4400" dirty="0"/>
          </a:p>
        </p:txBody>
      </p:sp>
      <p:sp>
        <p:nvSpPr>
          <p:cNvPr id="20" name="Text 17"/>
          <p:cNvSpPr/>
          <p:nvPr/>
        </p:nvSpPr>
        <p:spPr>
          <a:xfrm>
            <a:off x="6233008"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추적 ID 수</a:t>
            </a:r>
            <a:endParaRPr lang="en-US" sz="1500" dirty="0"/>
          </a:p>
        </p:txBody>
      </p:sp>
      <p:sp>
        <p:nvSpPr>
          <p:cNvPr id="21" name="Text 18"/>
          <p:cNvSpPr/>
          <p:nvPr/>
        </p:nvSpPr>
        <p:spPr>
          <a:xfrm>
            <a:off x="6233008"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ReID 적용으로 동일 인물 식별 안정화</a:t>
            </a:r>
            <a:endParaRPr lang="en-US" sz="1200" dirty="0"/>
          </a:p>
        </p:txBody>
      </p:sp>
      <p:sp>
        <p:nvSpPr>
          <p:cNvPr id="22" name="Shape 19"/>
          <p:cNvSpPr/>
          <p:nvPr/>
        </p:nvSpPr>
        <p:spPr>
          <a:xfrm>
            <a:off x="8983751" y="2103120"/>
            <a:ext cx="2476424" cy="0"/>
          </a:xfrm>
          <a:prstGeom prst="line">
            <a:avLst/>
          </a:prstGeom>
          <a:noFill/>
          <a:ln w="12700">
            <a:solidFill>
              <a:srgbClr val="D9DEE7"/>
            </a:solidFill>
            <a:prstDash val="solid"/>
          </a:ln>
        </p:spPr>
      </p:sp>
      <p:sp>
        <p:nvSpPr>
          <p:cNvPr id="23" name="Text 20"/>
          <p:cNvSpPr/>
          <p:nvPr/>
        </p:nvSpPr>
        <p:spPr>
          <a:xfrm>
            <a:off x="8983751" y="2240280"/>
            <a:ext cx="2476424" cy="914400"/>
          </a:xfrm>
          <a:prstGeom prst="rect">
            <a:avLst/>
          </a:prstGeom>
          <a:noFill/>
          <a:ln/>
        </p:spPr>
        <p:txBody>
          <a:bodyPr wrap="square" rtlCol="0" anchor="ctr"/>
          <a:lstStyle/>
          <a:p>
            <a:pPr indent="0" marL="0">
              <a:buNone/>
            </a:pPr>
            <a:r>
              <a:rPr lang="en-US" sz="4400" b="1" dirty="0">
                <a:solidFill>
                  <a:srgbClr val="0B1F3A"/>
                </a:solidFill>
                <a:latin typeface="맑은 고딕" pitchFamily="34" charset="0"/>
                <a:ea typeface="맑은 고딕" pitchFamily="34" charset="-122"/>
                <a:cs typeface="맑은 고딕" pitchFamily="34" charset="-120"/>
              </a:rPr>
              <a:t>3 / 3</a:t>
            </a:r>
            <a:endParaRPr lang="en-US" sz="4400" dirty="0"/>
          </a:p>
        </p:txBody>
      </p:sp>
      <p:sp>
        <p:nvSpPr>
          <p:cNvPr id="24" name="Text 21"/>
          <p:cNvSpPr/>
          <p:nvPr/>
        </p:nvSpPr>
        <p:spPr>
          <a:xfrm>
            <a:off x="8983751"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밀폐구역 진입 감지</a:t>
            </a:r>
            <a:endParaRPr lang="en-US" sz="1500" dirty="0"/>
          </a:p>
        </p:txBody>
      </p:sp>
      <p:sp>
        <p:nvSpPr>
          <p:cNvPr id="25" name="Text 22"/>
          <p:cNvSpPr/>
          <p:nvPr/>
        </p:nvSpPr>
        <p:spPr>
          <a:xfrm>
            <a:off x="8983751"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반복 시험 3회 모두 정확 감지</a:t>
            </a:r>
            <a:endParaRPr lang="en-US" sz="1200" dirty="0"/>
          </a:p>
        </p:txBody>
      </p:sp>
      <p:sp>
        <p:nvSpPr>
          <p:cNvPr id="26" name="Shape 23"/>
          <p:cNvSpPr/>
          <p:nvPr/>
        </p:nvSpPr>
        <p:spPr>
          <a:xfrm>
            <a:off x="731520" y="4434840"/>
            <a:ext cx="5227168" cy="868680"/>
          </a:xfrm>
          <a:prstGeom prst="rect">
            <a:avLst/>
          </a:prstGeom>
          <a:solidFill>
            <a:srgbClr val="E8F0FC"/>
          </a:solidFill>
          <a:ln/>
        </p:spPr>
      </p:sp>
      <p:sp>
        <p:nvSpPr>
          <p:cNvPr id="27" name="Text 24"/>
          <p:cNvSpPr/>
          <p:nvPr/>
        </p:nvSpPr>
        <p:spPr>
          <a:xfrm>
            <a:off x="1005840" y="4498848"/>
            <a:ext cx="4861408" cy="320040"/>
          </a:xfrm>
          <a:prstGeom prst="rect">
            <a:avLst/>
          </a:prstGeom>
          <a:noFill/>
          <a:ln/>
        </p:spPr>
        <p:txBody>
          <a:bodyPr wrap="square" rtlCol="0" anchor="ctr"/>
          <a:lstStyle/>
          <a:p>
            <a:pPr indent="0" marL="0">
              <a:buNone/>
            </a:pPr>
            <a:r>
              <a:rPr lang="en-US" sz="1300" b="1" dirty="0">
                <a:solidFill>
                  <a:srgbClr val="1D5FD1"/>
                </a:solidFill>
                <a:latin typeface="맑은 고딕" pitchFamily="34" charset="0"/>
                <a:ea typeface="맑은 고딕" pitchFamily="34" charset="-122"/>
                <a:cs typeface="맑은 고딕" pitchFamily="34" charset="-120"/>
              </a:rPr>
              <a:t>소량 데이터 환경</a:t>
            </a:r>
            <a:endParaRPr lang="en-US" sz="1300" dirty="0"/>
          </a:p>
        </p:txBody>
      </p:sp>
      <p:sp>
        <p:nvSpPr>
          <p:cNvPr id="28" name="Text 25"/>
          <p:cNvSpPr/>
          <p:nvPr/>
        </p:nvSpPr>
        <p:spPr>
          <a:xfrm>
            <a:off x="1005840" y="4818888"/>
            <a:ext cx="4861408"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직접 학습보다 사전학습 모델(Zero-shot) 활용이 유리</a:t>
            </a:r>
            <a:endParaRPr lang="en-US" sz="1500" dirty="0"/>
          </a:p>
        </p:txBody>
      </p:sp>
      <p:sp>
        <p:nvSpPr>
          <p:cNvPr id="29" name="Shape 26"/>
          <p:cNvSpPr/>
          <p:nvPr/>
        </p:nvSpPr>
        <p:spPr>
          <a:xfrm>
            <a:off x="6233008" y="4434840"/>
            <a:ext cx="5227168" cy="868680"/>
          </a:xfrm>
          <a:prstGeom prst="rect">
            <a:avLst/>
          </a:prstGeom>
          <a:solidFill>
            <a:srgbClr val="E8F0FC"/>
          </a:solidFill>
          <a:ln/>
        </p:spPr>
      </p:sp>
      <p:sp>
        <p:nvSpPr>
          <p:cNvPr id="30" name="Text 27"/>
          <p:cNvSpPr/>
          <p:nvPr/>
        </p:nvSpPr>
        <p:spPr>
          <a:xfrm>
            <a:off x="6507328" y="4498848"/>
            <a:ext cx="4861408" cy="320040"/>
          </a:xfrm>
          <a:prstGeom prst="rect">
            <a:avLst/>
          </a:prstGeom>
          <a:noFill/>
          <a:ln/>
        </p:spPr>
        <p:txBody>
          <a:bodyPr wrap="square" rtlCol="0" anchor="ctr"/>
          <a:lstStyle/>
          <a:p>
            <a:pPr indent="0" marL="0">
              <a:buNone/>
            </a:pPr>
            <a:r>
              <a:rPr lang="en-US" sz="1300" b="1" dirty="0">
                <a:solidFill>
                  <a:srgbClr val="1D5FD1"/>
                </a:solidFill>
                <a:latin typeface="맑은 고딕" pitchFamily="34" charset="0"/>
                <a:ea typeface="맑은 고딕" pitchFamily="34" charset="-122"/>
                <a:cs typeface="맑은 고딕" pitchFamily="34" charset="-120"/>
              </a:rPr>
              <a:t>AI + 현장 규칙</a:t>
            </a:r>
            <a:endParaRPr lang="en-US" sz="1300" dirty="0"/>
          </a:p>
        </p:txBody>
      </p:sp>
      <p:sp>
        <p:nvSpPr>
          <p:cNvPr id="31" name="Text 28"/>
          <p:cNvSpPr/>
          <p:nvPr/>
        </p:nvSpPr>
        <p:spPr>
          <a:xfrm>
            <a:off x="6507328" y="4818888"/>
            <a:ext cx="4861408"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모델 출력에 현장 판단 규칙을 결합할 때 신뢰도 확보</a:t>
            </a:r>
            <a:endParaRPr lang="en-US" sz="1500" dirty="0"/>
          </a:p>
        </p:txBody>
      </p:sp>
      <p:sp>
        <p:nvSpPr>
          <p:cNvPr id="32" name="Text 29"/>
          <p:cNvSpPr/>
          <p:nvPr/>
        </p:nvSpPr>
        <p:spPr>
          <a:xfrm>
            <a:off x="731520" y="5669280"/>
            <a:ext cx="9144000" cy="274320"/>
          </a:xfrm>
          <a:prstGeom prst="rect">
            <a:avLst/>
          </a:prstGeom>
          <a:noFill/>
          <a:ln/>
        </p:spPr>
        <p:txBody>
          <a:bodyPr wrap="square" rtlCol="0" anchor="ctr"/>
          <a:lstStyle/>
          <a:p>
            <a:pPr indent="0" marL="0">
              <a:buNone/>
            </a:pPr>
            <a:r>
              <a:rPr lang="en-US" sz="1100" dirty="0">
                <a:solidFill>
                  <a:srgbClr val="8A93A3"/>
                </a:solidFill>
                <a:latin typeface="맑은 고딕" pitchFamily="34" charset="0"/>
                <a:ea typeface="맑은 고딕" pitchFamily="34" charset="-122"/>
                <a:cs typeface="맑은 고딕" pitchFamily="34" charset="-120"/>
              </a:rPr>
              <a:t>※ 공개 영상(Pexels) 및 훈련 영상 기준. 실선 CCTV 환경 검증 필요.</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0450024"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12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NEXT STEPS</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실무 적용을 위한 추가 데이터</a:t>
            </a:r>
            <a:endParaRPr lang="en-US" sz="3000" dirty="0"/>
          </a:p>
        </p:txBody>
      </p:sp>
      <p:sp>
        <p:nvSpPr>
          <p:cNvPr id="9" name="Shape 6"/>
          <p:cNvSpPr/>
          <p:nvPr/>
        </p:nvSpPr>
        <p:spPr>
          <a:xfrm>
            <a:off x="731520" y="1600200"/>
            <a:ext cx="5090008" cy="54864"/>
          </a:xfrm>
          <a:prstGeom prst="rect">
            <a:avLst/>
          </a:prstGeom>
          <a:solidFill>
            <a:srgbClr val="1D5FD1"/>
          </a:solidFill>
          <a:ln/>
        </p:spPr>
      </p:sp>
      <p:sp>
        <p:nvSpPr>
          <p:cNvPr id="10" name="Text 7"/>
          <p:cNvSpPr/>
          <p:nvPr/>
        </p:nvSpPr>
        <p:spPr>
          <a:xfrm>
            <a:off x="731520" y="1783080"/>
            <a:ext cx="5090008"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VOYAGE ECONOMICS</a:t>
            </a:r>
            <a:endParaRPr lang="en-US" sz="1100" dirty="0"/>
          </a:p>
        </p:txBody>
      </p:sp>
      <p:sp>
        <p:nvSpPr>
          <p:cNvPr id="11" name="Text 8"/>
          <p:cNvSpPr/>
          <p:nvPr/>
        </p:nvSpPr>
        <p:spPr>
          <a:xfrm>
            <a:off x="731520"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경제 운항</a:t>
            </a:r>
            <a:endParaRPr lang="en-US" sz="2000" dirty="0"/>
          </a:p>
        </p:txBody>
      </p:sp>
      <p:sp>
        <p:nvSpPr>
          <p:cNvPr id="12" name="Text 9"/>
          <p:cNvSpPr/>
          <p:nvPr/>
        </p:nvSpPr>
        <p:spPr>
          <a:xfrm>
            <a:off x="731520" y="269748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운항 항로 데이터</a:t>
            </a:r>
            <a:endParaRPr lang="en-US" sz="1400" dirty="0"/>
          </a:p>
        </p:txBody>
      </p:sp>
      <p:sp>
        <p:nvSpPr>
          <p:cNvPr id="13" name="Text 10"/>
          <p:cNvSpPr/>
          <p:nvPr/>
        </p:nvSpPr>
        <p:spPr>
          <a:xfrm>
            <a:off x="2880360" y="269748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AIS 실제 항적 · 계획 대비 편차</a:t>
            </a:r>
            <a:endParaRPr lang="en-US" sz="1200" dirty="0"/>
          </a:p>
        </p:txBody>
      </p:sp>
      <p:sp>
        <p:nvSpPr>
          <p:cNvPr id="14" name="Shape 11"/>
          <p:cNvSpPr/>
          <p:nvPr/>
        </p:nvSpPr>
        <p:spPr>
          <a:xfrm>
            <a:off x="731520" y="3200400"/>
            <a:ext cx="5090008" cy="0"/>
          </a:xfrm>
          <a:prstGeom prst="line">
            <a:avLst/>
          </a:prstGeom>
          <a:noFill/>
          <a:ln w="12700">
            <a:solidFill>
              <a:srgbClr val="EBEEF3"/>
            </a:solidFill>
            <a:prstDash val="solid"/>
          </a:ln>
        </p:spPr>
      </p:sp>
      <p:sp>
        <p:nvSpPr>
          <p:cNvPr id="15" name="Text 12"/>
          <p:cNvSpPr/>
          <p:nvPr/>
        </p:nvSpPr>
        <p:spPr>
          <a:xfrm>
            <a:off x="731520" y="324612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선박 계약 상황</a:t>
            </a:r>
            <a:endParaRPr lang="en-US" sz="1400" dirty="0"/>
          </a:p>
        </p:txBody>
      </p:sp>
      <p:sp>
        <p:nvSpPr>
          <p:cNvPr id="16" name="Text 13"/>
          <p:cNvSpPr/>
          <p:nvPr/>
        </p:nvSpPr>
        <p:spPr>
          <a:xfrm>
            <a:off x="2880360" y="324612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C/P 속력·소모량 보증 · Laycan · 용선료</a:t>
            </a:r>
            <a:endParaRPr lang="en-US" sz="1200" dirty="0"/>
          </a:p>
        </p:txBody>
      </p:sp>
      <p:sp>
        <p:nvSpPr>
          <p:cNvPr id="17" name="Shape 14"/>
          <p:cNvSpPr/>
          <p:nvPr/>
        </p:nvSpPr>
        <p:spPr>
          <a:xfrm>
            <a:off x="731520" y="3749040"/>
            <a:ext cx="5090008" cy="0"/>
          </a:xfrm>
          <a:prstGeom prst="line">
            <a:avLst/>
          </a:prstGeom>
          <a:noFill/>
          <a:ln w="12700">
            <a:solidFill>
              <a:srgbClr val="EBEEF3"/>
            </a:solidFill>
            <a:prstDash val="solid"/>
          </a:ln>
        </p:spPr>
      </p:sp>
      <p:sp>
        <p:nvSpPr>
          <p:cNvPr id="18" name="Text 15"/>
          <p:cNvSpPr/>
          <p:nvPr/>
        </p:nvSpPr>
        <p:spPr>
          <a:xfrm>
            <a:off x="731520" y="379476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해상 기상 · 해류</a:t>
            </a:r>
            <a:endParaRPr lang="en-US" sz="1400" dirty="0"/>
          </a:p>
        </p:txBody>
      </p:sp>
      <p:sp>
        <p:nvSpPr>
          <p:cNvPr id="19" name="Text 16"/>
          <p:cNvSpPr/>
          <p:nvPr/>
        </p:nvSpPr>
        <p:spPr>
          <a:xfrm>
            <a:off x="2880360" y="379476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파고 · 풍향풍속 · 해류 실측/예보</a:t>
            </a:r>
            <a:endParaRPr lang="en-US" sz="1200" dirty="0"/>
          </a:p>
        </p:txBody>
      </p:sp>
      <p:sp>
        <p:nvSpPr>
          <p:cNvPr id="20" name="Shape 17"/>
          <p:cNvSpPr/>
          <p:nvPr/>
        </p:nvSpPr>
        <p:spPr>
          <a:xfrm>
            <a:off x="731520" y="4297680"/>
            <a:ext cx="5090008" cy="0"/>
          </a:xfrm>
          <a:prstGeom prst="line">
            <a:avLst/>
          </a:prstGeom>
          <a:noFill/>
          <a:ln w="12700">
            <a:solidFill>
              <a:srgbClr val="EBEEF3"/>
            </a:solidFill>
            <a:prstDash val="solid"/>
          </a:ln>
        </p:spPr>
      </p:sp>
      <p:sp>
        <p:nvSpPr>
          <p:cNvPr id="21" name="Text 18"/>
          <p:cNvSpPr/>
          <p:nvPr/>
        </p:nvSpPr>
        <p:spPr>
          <a:xfrm>
            <a:off x="731520" y="434340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선체 · 엔진 상태</a:t>
            </a:r>
            <a:endParaRPr lang="en-US" sz="1400" dirty="0"/>
          </a:p>
        </p:txBody>
      </p:sp>
      <p:sp>
        <p:nvSpPr>
          <p:cNvPr id="22" name="Text 19"/>
          <p:cNvSpPr/>
          <p:nvPr/>
        </p:nvSpPr>
        <p:spPr>
          <a:xfrm>
            <a:off x="2880360" y="434340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흘수 · 트림 · Hull fouling · SFOC</a:t>
            </a:r>
            <a:endParaRPr lang="en-US" sz="1200" dirty="0"/>
          </a:p>
        </p:txBody>
      </p:sp>
      <p:sp>
        <p:nvSpPr>
          <p:cNvPr id="23" name="Shape 20"/>
          <p:cNvSpPr/>
          <p:nvPr/>
        </p:nvSpPr>
        <p:spPr>
          <a:xfrm>
            <a:off x="731520" y="4846320"/>
            <a:ext cx="5090008" cy="0"/>
          </a:xfrm>
          <a:prstGeom prst="line">
            <a:avLst/>
          </a:prstGeom>
          <a:noFill/>
          <a:ln w="12700">
            <a:solidFill>
              <a:srgbClr val="EBEEF3"/>
            </a:solidFill>
            <a:prstDash val="solid"/>
          </a:ln>
        </p:spPr>
      </p:sp>
      <p:sp>
        <p:nvSpPr>
          <p:cNvPr id="24" name="Text 21"/>
          <p:cNvSpPr/>
          <p:nvPr/>
        </p:nvSpPr>
        <p:spPr>
          <a:xfrm>
            <a:off x="731520" y="489204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벙커 가격 · 항만</a:t>
            </a:r>
            <a:endParaRPr lang="en-US" sz="1400" dirty="0"/>
          </a:p>
        </p:txBody>
      </p:sp>
      <p:sp>
        <p:nvSpPr>
          <p:cNvPr id="25" name="Text 22"/>
          <p:cNvSpPr/>
          <p:nvPr/>
        </p:nvSpPr>
        <p:spPr>
          <a:xfrm>
            <a:off x="2880360" y="489204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항구별 실거래가 · 운하/항만 대기시간</a:t>
            </a:r>
            <a:endParaRPr lang="en-US" sz="1200" dirty="0"/>
          </a:p>
        </p:txBody>
      </p:sp>
      <p:sp>
        <p:nvSpPr>
          <p:cNvPr id="26" name="Shape 23"/>
          <p:cNvSpPr/>
          <p:nvPr/>
        </p:nvSpPr>
        <p:spPr>
          <a:xfrm>
            <a:off x="731520" y="5394960"/>
            <a:ext cx="5090008" cy="0"/>
          </a:xfrm>
          <a:prstGeom prst="line">
            <a:avLst/>
          </a:prstGeom>
          <a:noFill/>
          <a:ln w="12700">
            <a:solidFill>
              <a:srgbClr val="EBEEF3"/>
            </a:solidFill>
            <a:prstDash val="solid"/>
          </a:ln>
        </p:spPr>
      </p:sp>
      <p:sp>
        <p:nvSpPr>
          <p:cNvPr id="27" name="Text 24"/>
          <p:cNvSpPr/>
          <p:nvPr/>
        </p:nvSpPr>
        <p:spPr>
          <a:xfrm>
            <a:off x="731520" y="544068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탄소 규제 비용</a:t>
            </a:r>
            <a:endParaRPr lang="en-US" sz="1400" dirty="0"/>
          </a:p>
        </p:txBody>
      </p:sp>
      <p:sp>
        <p:nvSpPr>
          <p:cNvPr id="28" name="Text 25"/>
          <p:cNvSpPr/>
          <p:nvPr/>
        </p:nvSpPr>
        <p:spPr>
          <a:xfrm>
            <a:off x="2880360" y="544068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CII 등급 · EU ETS 배출권</a:t>
            </a:r>
            <a:endParaRPr lang="en-US" sz="1200" dirty="0"/>
          </a:p>
        </p:txBody>
      </p:sp>
      <p:sp>
        <p:nvSpPr>
          <p:cNvPr id="29" name="Shape 26"/>
          <p:cNvSpPr/>
          <p:nvPr/>
        </p:nvSpPr>
        <p:spPr>
          <a:xfrm>
            <a:off x="731520" y="5943600"/>
            <a:ext cx="5090008" cy="0"/>
          </a:xfrm>
          <a:prstGeom prst="line">
            <a:avLst/>
          </a:prstGeom>
          <a:noFill/>
          <a:ln w="12700">
            <a:solidFill>
              <a:srgbClr val="EBEEF3"/>
            </a:solidFill>
            <a:prstDash val="solid"/>
          </a:ln>
        </p:spPr>
      </p:sp>
      <p:sp>
        <p:nvSpPr>
          <p:cNvPr id="30" name="Shape 27"/>
          <p:cNvSpPr/>
          <p:nvPr/>
        </p:nvSpPr>
        <p:spPr>
          <a:xfrm>
            <a:off x="6370168" y="1600200"/>
            <a:ext cx="5090008" cy="54864"/>
          </a:xfrm>
          <a:prstGeom prst="rect">
            <a:avLst/>
          </a:prstGeom>
          <a:solidFill>
            <a:srgbClr val="0E8C7E"/>
          </a:solidFill>
          <a:ln/>
        </p:spPr>
      </p:sp>
      <p:sp>
        <p:nvSpPr>
          <p:cNvPr id="31" name="Text 28"/>
          <p:cNvSpPr/>
          <p:nvPr/>
        </p:nvSpPr>
        <p:spPr>
          <a:xfrm>
            <a:off x="6370168" y="1783080"/>
            <a:ext cx="5090008" cy="274320"/>
          </a:xfrm>
          <a:prstGeom prst="rect">
            <a:avLst/>
          </a:prstGeom>
          <a:noFill/>
          <a:ln/>
        </p:spPr>
        <p:txBody>
          <a:bodyPr wrap="square" rtlCol="0" anchor="ctr"/>
          <a:lstStyle/>
          <a:p>
            <a:pPr indent="0" marL="0">
              <a:buNone/>
            </a:pPr>
            <a:r>
              <a:rPr lang="en-US" sz="1100" b="1" spc="200" kern="0" dirty="0">
                <a:solidFill>
                  <a:srgbClr val="0E8C7E"/>
                </a:solidFill>
                <a:latin typeface="맑은 고딕" pitchFamily="34" charset="0"/>
                <a:ea typeface="맑은 고딕" pitchFamily="34" charset="-122"/>
                <a:cs typeface="맑은 고딕" pitchFamily="34" charset="-120"/>
              </a:rPr>
              <a:t>SAFETY MONITORING</a:t>
            </a:r>
            <a:endParaRPr lang="en-US" sz="1100" dirty="0"/>
          </a:p>
        </p:txBody>
      </p:sp>
      <p:sp>
        <p:nvSpPr>
          <p:cNvPr id="32" name="Text 29"/>
          <p:cNvSpPr/>
          <p:nvPr/>
        </p:nvSpPr>
        <p:spPr>
          <a:xfrm>
            <a:off x="6370168"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위험작업 인식</a:t>
            </a:r>
            <a:endParaRPr lang="en-US" sz="2000" dirty="0"/>
          </a:p>
        </p:txBody>
      </p:sp>
      <p:sp>
        <p:nvSpPr>
          <p:cNvPr id="33" name="Text 30"/>
          <p:cNvSpPr/>
          <p:nvPr/>
        </p:nvSpPr>
        <p:spPr>
          <a:xfrm>
            <a:off x="6370168" y="269748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실선 CCTV 영상</a:t>
            </a:r>
            <a:endParaRPr lang="en-US" sz="1400" dirty="0"/>
          </a:p>
        </p:txBody>
      </p:sp>
      <p:sp>
        <p:nvSpPr>
          <p:cNvPr id="34" name="Text 31"/>
          <p:cNvSpPr/>
          <p:nvPr/>
        </p:nvSpPr>
        <p:spPr>
          <a:xfrm>
            <a:off x="8519008" y="269748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방폭 카메라 · 야간 · 악천후 조건</a:t>
            </a:r>
            <a:endParaRPr lang="en-US" sz="1200" dirty="0"/>
          </a:p>
        </p:txBody>
      </p:sp>
      <p:sp>
        <p:nvSpPr>
          <p:cNvPr id="35" name="Shape 32"/>
          <p:cNvSpPr/>
          <p:nvPr/>
        </p:nvSpPr>
        <p:spPr>
          <a:xfrm>
            <a:off x="6370168" y="3200400"/>
            <a:ext cx="5090008" cy="0"/>
          </a:xfrm>
          <a:prstGeom prst="line">
            <a:avLst/>
          </a:prstGeom>
          <a:noFill/>
          <a:ln w="12700">
            <a:solidFill>
              <a:srgbClr val="EBEEF3"/>
            </a:solidFill>
            <a:prstDash val="solid"/>
          </a:ln>
        </p:spPr>
      </p:sp>
      <p:sp>
        <p:nvSpPr>
          <p:cNvPr id="36" name="Text 33"/>
          <p:cNvSpPr/>
          <p:nvPr/>
        </p:nvSpPr>
        <p:spPr>
          <a:xfrm>
            <a:off x="6370168" y="324612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전자 작업허가(PTW)</a:t>
            </a:r>
            <a:endParaRPr lang="en-US" sz="1400" dirty="0"/>
          </a:p>
        </p:txBody>
      </p:sp>
      <p:sp>
        <p:nvSpPr>
          <p:cNvPr id="37" name="Text 34"/>
          <p:cNvSpPr/>
          <p:nvPr/>
        </p:nvSpPr>
        <p:spPr>
          <a:xfrm>
            <a:off x="8519008" y="324612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허가 내용과 실제 작업 자동 대조</a:t>
            </a:r>
            <a:endParaRPr lang="en-US" sz="1200" dirty="0"/>
          </a:p>
        </p:txBody>
      </p:sp>
      <p:sp>
        <p:nvSpPr>
          <p:cNvPr id="38" name="Shape 35"/>
          <p:cNvSpPr/>
          <p:nvPr/>
        </p:nvSpPr>
        <p:spPr>
          <a:xfrm>
            <a:off x="6370168" y="3749040"/>
            <a:ext cx="5090008" cy="0"/>
          </a:xfrm>
          <a:prstGeom prst="line">
            <a:avLst/>
          </a:prstGeom>
          <a:noFill/>
          <a:ln w="12700">
            <a:solidFill>
              <a:srgbClr val="EBEEF3"/>
            </a:solidFill>
            <a:prstDash val="solid"/>
          </a:ln>
        </p:spPr>
      </p:sp>
      <p:sp>
        <p:nvSpPr>
          <p:cNvPr id="39" name="Text 36"/>
          <p:cNvSpPr/>
          <p:nvPr/>
        </p:nvSpPr>
        <p:spPr>
          <a:xfrm>
            <a:off x="6370168" y="379476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승조원 식별</a:t>
            </a:r>
            <a:endParaRPr lang="en-US" sz="1400" dirty="0"/>
          </a:p>
        </p:txBody>
      </p:sp>
      <p:sp>
        <p:nvSpPr>
          <p:cNvPr id="40" name="Text 37"/>
          <p:cNvSpPr/>
          <p:nvPr/>
        </p:nvSpPr>
        <p:spPr>
          <a:xfrm>
            <a:off x="8519008" y="379476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RFID 등 · 진입자 실명 기록</a:t>
            </a:r>
            <a:endParaRPr lang="en-US" sz="1200" dirty="0"/>
          </a:p>
        </p:txBody>
      </p:sp>
      <p:sp>
        <p:nvSpPr>
          <p:cNvPr id="41" name="Shape 38"/>
          <p:cNvSpPr/>
          <p:nvPr/>
        </p:nvSpPr>
        <p:spPr>
          <a:xfrm>
            <a:off x="6370168" y="4297680"/>
            <a:ext cx="5090008" cy="0"/>
          </a:xfrm>
          <a:prstGeom prst="line">
            <a:avLst/>
          </a:prstGeom>
          <a:noFill/>
          <a:ln w="12700">
            <a:solidFill>
              <a:srgbClr val="EBEEF3"/>
            </a:solidFill>
            <a:prstDash val="solid"/>
          </a:ln>
        </p:spPr>
      </p:sp>
      <p:sp>
        <p:nvSpPr>
          <p:cNvPr id="42" name="Text 39"/>
          <p:cNvSpPr/>
          <p:nvPr/>
        </p:nvSpPr>
        <p:spPr>
          <a:xfrm>
            <a:off x="6370168" y="434340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PPE 학습 데이터</a:t>
            </a:r>
            <a:endParaRPr lang="en-US" sz="1400" dirty="0"/>
          </a:p>
        </p:txBody>
      </p:sp>
      <p:sp>
        <p:nvSpPr>
          <p:cNvPr id="43" name="Text 40"/>
          <p:cNvSpPr/>
          <p:nvPr/>
        </p:nvSpPr>
        <p:spPr>
          <a:xfrm>
            <a:off x="8519008" y="434340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BA 마스크·머리 끈 위치 라벨 · 장갑 미착용</a:t>
            </a:r>
            <a:endParaRPr lang="en-US" sz="1200" dirty="0"/>
          </a:p>
        </p:txBody>
      </p:sp>
      <p:sp>
        <p:nvSpPr>
          <p:cNvPr id="44" name="Shape 41"/>
          <p:cNvSpPr/>
          <p:nvPr/>
        </p:nvSpPr>
        <p:spPr>
          <a:xfrm>
            <a:off x="6370168" y="4846320"/>
            <a:ext cx="5090008" cy="0"/>
          </a:xfrm>
          <a:prstGeom prst="line">
            <a:avLst/>
          </a:prstGeom>
          <a:noFill/>
          <a:ln w="12700">
            <a:solidFill>
              <a:srgbClr val="EBEEF3"/>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1320860"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13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ROADMAP</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시스템 고도화 방향</a:t>
            </a:r>
            <a:endParaRPr lang="en-US" sz="3000" dirty="0"/>
          </a:p>
        </p:txBody>
      </p:sp>
      <p:sp>
        <p:nvSpPr>
          <p:cNvPr id="9" name="Shape 6"/>
          <p:cNvSpPr/>
          <p:nvPr/>
        </p:nvSpPr>
        <p:spPr>
          <a:xfrm>
            <a:off x="731520" y="1600200"/>
            <a:ext cx="5090008" cy="54864"/>
          </a:xfrm>
          <a:prstGeom prst="rect">
            <a:avLst/>
          </a:prstGeom>
          <a:solidFill>
            <a:srgbClr val="1D5FD1"/>
          </a:solidFill>
          <a:ln/>
        </p:spPr>
      </p:sp>
      <p:sp>
        <p:nvSpPr>
          <p:cNvPr id="10" name="Text 7"/>
          <p:cNvSpPr/>
          <p:nvPr/>
        </p:nvSpPr>
        <p:spPr>
          <a:xfrm>
            <a:off x="731520" y="1783080"/>
            <a:ext cx="5090008"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VOYAGE ECONOMICS</a:t>
            </a:r>
            <a:endParaRPr lang="en-US" sz="1100" dirty="0"/>
          </a:p>
        </p:txBody>
      </p:sp>
      <p:sp>
        <p:nvSpPr>
          <p:cNvPr id="11" name="Text 8"/>
          <p:cNvSpPr/>
          <p:nvPr/>
        </p:nvSpPr>
        <p:spPr>
          <a:xfrm>
            <a:off x="731520"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경제 운항 계획</a:t>
            </a:r>
            <a:endParaRPr lang="en-US" sz="2000" dirty="0"/>
          </a:p>
        </p:txBody>
      </p:sp>
      <p:sp>
        <p:nvSpPr>
          <p:cNvPr id="12" name="Text 9"/>
          <p:cNvSpPr/>
          <p:nvPr/>
        </p:nvSpPr>
        <p:spPr>
          <a:xfrm>
            <a:off x="731520" y="2697480"/>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경제성 판단</a:t>
            </a:r>
            <a:endParaRPr lang="en-US" sz="1200" dirty="0"/>
          </a:p>
        </p:txBody>
      </p:sp>
      <p:sp>
        <p:nvSpPr>
          <p:cNvPr id="13" name="Text 10"/>
          <p:cNvSpPr/>
          <p:nvPr/>
        </p:nvSpPr>
        <p:spPr>
          <a:xfrm>
            <a:off x="731520" y="302666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C/P 조건 반영</a:t>
            </a:r>
            <a:endParaRPr lang="en-US" sz="1400" dirty="0"/>
          </a:p>
        </p:txBody>
      </p:sp>
      <p:sp>
        <p:nvSpPr>
          <p:cNvPr id="14" name="Text 11"/>
          <p:cNvSpPr/>
          <p:nvPr/>
        </p:nvSpPr>
        <p:spPr>
          <a:xfrm>
            <a:off x="2788920" y="302666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속력·소모량 보증 · 용선료 기반 손익</a:t>
            </a:r>
            <a:endParaRPr lang="en-US" sz="1200" dirty="0"/>
          </a:p>
        </p:txBody>
      </p:sp>
      <p:sp>
        <p:nvSpPr>
          <p:cNvPr id="15" name="Text 12"/>
          <p:cNvSpPr/>
          <p:nvPr/>
        </p:nvSpPr>
        <p:spPr>
          <a:xfrm>
            <a:off x="731520" y="3429000"/>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최적 속력 제안</a:t>
            </a:r>
            <a:endParaRPr lang="en-US" sz="1400" dirty="0"/>
          </a:p>
        </p:txBody>
      </p:sp>
      <p:sp>
        <p:nvSpPr>
          <p:cNvPr id="16" name="Text 13"/>
          <p:cNvSpPr/>
          <p:nvPr/>
        </p:nvSpPr>
        <p:spPr>
          <a:xfrm>
            <a:off x="2788920" y="3429000"/>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도착 시한 내 총비용 최소 속력</a:t>
            </a:r>
            <a:endParaRPr lang="en-US" sz="1200" dirty="0"/>
          </a:p>
        </p:txBody>
      </p:sp>
      <p:sp>
        <p:nvSpPr>
          <p:cNvPr id="17" name="Text 14"/>
          <p:cNvSpPr/>
          <p:nvPr/>
        </p:nvSpPr>
        <p:spPr>
          <a:xfrm>
            <a:off x="731520" y="3831336"/>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탄소비용 산정</a:t>
            </a:r>
            <a:endParaRPr lang="en-US" sz="1400" dirty="0"/>
          </a:p>
        </p:txBody>
      </p:sp>
      <p:sp>
        <p:nvSpPr>
          <p:cNvPr id="18" name="Text 15"/>
          <p:cNvSpPr/>
          <p:nvPr/>
        </p:nvSpPr>
        <p:spPr>
          <a:xfrm>
            <a:off x="2788920" y="3831336"/>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CII 등급 예측 · EU ETS 비용</a:t>
            </a:r>
            <a:endParaRPr lang="en-US" sz="1200" dirty="0"/>
          </a:p>
        </p:txBody>
      </p:sp>
      <p:sp>
        <p:nvSpPr>
          <p:cNvPr id="19" name="Text 16"/>
          <p:cNvSpPr/>
          <p:nvPr/>
        </p:nvSpPr>
        <p:spPr>
          <a:xfrm>
            <a:off x="731520" y="4361688"/>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예측 고도화</a:t>
            </a:r>
            <a:endParaRPr lang="en-US" sz="1200" dirty="0"/>
          </a:p>
        </p:txBody>
      </p:sp>
      <p:sp>
        <p:nvSpPr>
          <p:cNvPr id="20" name="Text 17"/>
          <p:cNvSpPr/>
          <p:nvPr/>
        </p:nvSpPr>
        <p:spPr>
          <a:xfrm>
            <a:off x="731520" y="4690872"/>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기상 라우팅</a:t>
            </a:r>
            <a:endParaRPr lang="en-US" sz="1400" dirty="0"/>
          </a:p>
        </p:txBody>
      </p:sp>
      <p:sp>
        <p:nvSpPr>
          <p:cNvPr id="21" name="Text 18"/>
          <p:cNvSpPr/>
          <p:nvPr/>
        </p:nvSpPr>
        <p:spPr>
          <a:xfrm>
            <a:off x="2788920" y="4690872"/>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파고 · 해류 반영 항로 최적화</a:t>
            </a:r>
            <a:endParaRPr lang="en-US" sz="1200" dirty="0"/>
          </a:p>
        </p:txBody>
      </p:sp>
      <p:sp>
        <p:nvSpPr>
          <p:cNvPr id="22" name="Text 19"/>
          <p:cNvSpPr/>
          <p:nvPr/>
        </p:nvSpPr>
        <p:spPr>
          <a:xfrm>
            <a:off x="731520" y="5093208"/>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선체 성능 추세</a:t>
            </a:r>
            <a:endParaRPr lang="en-US" sz="1400" dirty="0"/>
          </a:p>
        </p:txBody>
      </p:sp>
      <p:sp>
        <p:nvSpPr>
          <p:cNvPr id="23" name="Text 20"/>
          <p:cNvSpPr/>
          <p:nvPr/>
        </p:nvSpPr>
        <p:spPr>
          <a:xfrm>
            <a:off x="2788920" y="5093208"/>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Hull fouling 저하 · 선저 청소 시점</a:t>
            </a:r>
            <a:endParaRPr lang="en-US" sz="1200" dirty="0"/>
          </a:p>
        </p:txBody>
      </p:sp>
      <p:sp>
        <p:nvSpPr>
          <p:cNvPr id="24" name="Text 21"/>
          <p:cNvSpPr/>
          <p:nvPr/>
        </p:nvSpPr>
        <p:spPr>
          <a:xfrm>
            <a:off x="731520" y="549554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BOG 연료 예측</a:t>
            </a:r>
            <a:endParaRPr lang="en-US" sz="1400" dirty="0"/>
          </a:p>
        </p:txBody>
      </p:sp>
      <p:sp>
        <p:nvSpPr>
          <p:cNvPr id="25" name="Text 22"/>
          <p:cNvSpPr/>
          <p:nvPr/>
        </p:nvSpPr>
        <p:spPr>
          <a:xfrm>
            <a:off x="2788920" y="549554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증발가스 연료 사용량 · 탱크 압력</a:t>
            </a:r>
            <a:endParaRPr lang="en-US" sz="1200" dirty="0"/>
          </a:p>
        </p:txBody>
      </p:sp>
      <p:sp>
        <p:nvSpPr>
          <p:cNvPr id="26" name="Shape 23"/>
          <p:cNvSpPr/>
          <p:nvPr/>
        </p:nvSpPr>
        <p:spPr>
          <a:xfrm>
            <a:off x="6370168" y="1600200"/>
            <a:ext cx="5090008" cy="54864"/>
          </a:xfrm>
          <a:prstGeom prst="rect">
            <a:avLst/>
          </a:prstGeom>
          <a:solidFill>
            <a:srgbClr val="0E8C7E"/>
          </a:solidFill>
          <a:ln/>
        </p:spPr>
      </p:sp>
      <p:sp>
        <p:nvSpPr>
          <p:cNvPr id="27" name="Text 24"/>
          <p:cNvSpPr/>
          <p:nvPr/>
        </p:nvSpPr>
        <p:spPr>
          <a:xfrm>
            <a:off x="6370168" y="1783080"/>
            <a:ext cx="5090008" cy="274320"/>
          </a:xfrm>
          <a:prstGeom prst="rect">
            <a:avLst/>
          </a:prstGeom>
          <a:noFill/>
          <a:ln/>
        </p:spPr>
        <p:txBody>
          <a:bodyPr wrap="square" rtlCol="0" anchor="ctr"/>
          <a:lstStyle/>
          <a:p>
            <a:pPr indent="0" marL="0">
              <a:buNone/>
            </a:pPr>
            <a:r>
              <a:rPr lang="en-US" sz="1100" b="1" spc="200" kern="0" dirty="0">
                <a:solidFill>
                  <a:srgbClr val="0E8C7E"/>
                </a:solidFill>
                <a:latin typeface="맑은 고딕" pitchFamily="34" charset="0"/>
                <a:ea typeface="맑은 고딕" pitchFamily="34" charset="-122"/>
                <a:cs typeface="맑은 고딕" pitchFamily="34" charset="-120"/>
              </a:rPr>
              <a:t>SAFETY MONITORING</a:t>
            </a:r>
            <a:endParaRPr lang="en-US" sz="1100" dirty="0"/>
          </a:p>
        </p:txBody>
      </p:sp>
      <p:sp>
        <p:nvSpPr>
          <p:cNvPr id="28" name="Text 25"/>
          <p:cNvSpPr/>
          <p:nvPr/>
        </p:nvSpPr>
        <p:spPr>
          <a:xfrm>
            <a:off x="6370168"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위험작업 인식</a:t>
            </a:r>
            <a:endParaRPr lang="en-US" sz="2000" dirty="0"/>
          </a:p>
        </p:txBody>
      </p:sp>
      <p:sp>
        <p:nvSpPr>
          <p:cNvPr id="29" name="Text 26"/>
          <p:cNvSpPr/>
          <p:nvPr/>
        </p:nvSpPr>
        <p:spPr>
          <a:xfrm>
            <a:off x="6370168" y="2697480"/>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안전 기능 확장</a:t>
            </a:r>
            <a:endParaRPr lang="en-US" sz="1200" dirty="0"/>
          </a:p>
        </p:txBody>
      </p:sp>
      <p:sp>
        <p:nvSpPr>
          <p:cNvPr id="30" name="Text 27"/>
          <p:cNvSpPr/>
          <p:nvPr/>
        </p:nvSpPr>
        <p:spPr>
          <a:xfrm>
            <a:off x="6370168" y="302666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LOTO 접촉 경보</a:t>
            </a:r>
            <a:endParaRPr lang="en-US" sz="1400" dirty="0"/>
          </a:p>
        </p:txBody>
      </p:sp>
      <p:sp>
        <p:nvSpPr>
          <p:cNvPr id="31" name="Text 28"/>
          <p:cNvSpPr/>
          <p:nvPr/>
        </p:nvSpPr>
        <p:spPr>
          <a:xfrm>
            <a:off x="8427568" y="302666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장비 접근 · 접촉 2단계 경보</a:t>
            </a:r>
            <a:endParaRPr lang="en-US" sz="1200" dirty="0"/>
          </a:p>
        </p:txBody>
      </p:sp>
      <p:sp>
        <p:nvSpPr>
          <p:cNvPr id="32" name="Text 29"/>
          <p:cNvSpPr/>
          <p:nvPr/>
        </p:nvSpPr>
        <p:spPr>
          <a:xfrm>
            <a:off x="6370168" y="3429000"/>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Man-down 경보</a:t>
            </a:r>
            <a:endParaRPr lang="en-US" sz="1400" dirty="0"/>
          </a:p>
        </p:txBody>
      </p:sp>
      <p:sp>
        <p:nvSpPr>
          <p:cNvPr id="33" name="Text 30"/>
          <p:cNvSpPr/>
          <p:nvPr/>
        </p:nvSpPr>
        <p:spPr>
          <a:xfrm>
            <a:off x="8427568" y="3429000"/>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쓰러짐 · 장시간 무동작 감지</a:t>
            </a:r>
            <a:endParaRPr lang="en-US" sz="1200" dirty="0"/>
          </a:p>
        </p:txBody>
      </p:sp>
      <p:sp>
        <p:nvSpPr>
          <p:cNvPr id="34" name="Text 31"/>
          <p:cNvSpPr/>
          <p:nvPr/>
        </p:nvSpPr>
        <p:spPr>
          <a:xfrm>
            <a:off x="6370168" y="3831336"/>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스냅백 구역 경보</a:t>
            </a:r>
            <a:endParaRPr lang="en-US" sz="1400" dirty="0"/>
          </a:p>
        </p:txBody>
      </p:sp>
      <p:sp>
        <p:nvSpPr>
          <p:cNvPr id="35" name="Text 32"/>
          <p:cNvSpPr/>
          <p:nvPr/>
        </p:nvSpPr>
        <p:spPr>
          <a:xfrm>
            <a:off x="8427568" y="3831336"/>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계류 로프 위험구역 진입 감지</a:t>
            </a:r>
            <a:endParaRPr lang="en-US" sz="1200" dirty="0"/>
          </a:p>
        </p:txBody>
      </p:sp>
      <p:sp>
        <p:nvSpPr>
          <p:cNvPr id="36" name="Text 33"/>
          <p:cNvSpPr/>
          <p:nvPr/>
        </p:nvSpPr>
        <p:spPr>
          <a:xfrm>
            <a:off x="6370168" y="4361688"/>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시스템 연동</a:t>
            </a:r>
            <a:endParaRPr lang="en-US" sz="1200" dirty="0"/>
          </a:p>
        </p:txBody>
      </p:sp>
      <p:sp>
        <p:nvSpPr>
          <p:cNvPr id="37" name="Text 34"/>
          <p:cNvSpPr/>
          <p:nvPr/>
        </p:nvSpPr>
        <p:spPr>
          <a:xfrm>
            <a:off x="6370168" y="4690872"/>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전자 PTW 연동</a:t>
            </a:r>
            <a:endParaRPr lang="en-US" sz="1400" dirty="0"/>
          </a:p>
        </p:txBody>
      </p:sp>
      <p:sp>
        <p:nvSpPr>
          <p:cNvPr id="38" name="Text 35"/>
          <p:cNvSpPr/>
          <p:nvPr/>
        </p:nvSpPr>
        <p:spPr>
          <a:xfrm>
            <a:off x="8427568" y="4690872"/>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허가 내용 ↔ 실제 작업 자동 대조</a:t>
            </a:r>
            <a:endParaRPr lang="en-US" sz="1200" dirty="0"/>
          </a:p>
        </p:txBody>
      </p:sp>
      <p:sp>
        <p:nvSpPr>
          <p:cNvPr id="39" name="Text 36"/>
          <p:cNvSpPr/>
          <p:nvPr/>
        </p:nvSpPr>
        <p:spPr>
          <a:xfrm>
            <a:off x="6370168" y="5093208"/>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가스측정기 연동</a:t>
            </a:r>
            <a:endParaRPr lang="en-US" sz="1400" dirty="0"/>
          </a:p>
        </p:txBody>
      </p:sp>
      <p:sp>
        <p:nvSpPr>
          <p:cNvPr id="40" name="Text 37"/>
          <p:cNvSpPr/>
          <p:nvPr/>
        </p:nvSpPr>
        <p:spPr>
          <a:xfrm>
            <a:off x="8427568" y="5093208"/>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측정값 자동 기록 · 미달 시 진입 차단</a:t>
            </a:r>
            <a:endParaRPr lang="en-US" sz="1200" dirty="0"/>
          </a:p>
        </p:txBody>
      </p:sp>
      <p:sp>
        <p:nvSpPr>
          <p:cNvPr id="41" name="Text 38"/>
          <p:cNvSpPr/>
          <p:nvPr/>
        </p:nvSpPr>
        <p:spPr>
          <a:xfrm>
            <a:off x="6370168" y="549554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경보 이력 분석</a:t>
            </a:r>
            <a:endParaRPr lang="en-US" sz="1400" dirty="0"/>
          </a:p>
        </p:txBody>
      </p:sp>
      <p:sp>
        <p:nvSpPr>
          <p:cNvPr id="42" name="Text 39"/>
          <p:cNvSpPr/>
          <p:nvPr/>
        </p:nvSpPr>
        <p:spPr>
          <a:xfrm>
            <a:off x="8427568" y="549554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위반 통계 · 사고 전 징후 리포트</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2191695"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14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CONCLUSION</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결론</a:t>
            </a:r>
            <a:endParaRPr lang="en-US" sz="3000" dirty="0"/>
          </a:p>
        </p:txBody>
      </p:sp>
      <p:sp>
        <p:nvSpPr>
          <p:cNvPr id="9" name="Text 6"/>
          <p:cNvSpPr/>
          <p:nvPr/>
        </p:nvSpPr>
        <p:spPr>
          <a:xfrm>
            <a:off x="731520" y="1828800"/>
            <a:ext cx="822960" cy="548640"/>
          </a:xfrm>
          <a:prstGeom prst="rect">
            <a:avLst/>
          </a:prstGeom>
          <a:noFill/>
          <a:ln/>
        </p:spPr>
        <p:txBody>
          <a:bodyPr wrap="square" rtlCol="0" anchor="ctr"/>
          <a:lstStyle/>
          <a:p>
            <a:pPr indent="0" marL="0">
              <a:buNone/>
            </a:pPr>
            <a:r>
              <a:rPr lang="en-US" sz="2400" b="1" dirty="0">
                <a:solidFill>
                  <a:srgbClr val="1D5FD1"/>
                </a:solidFill>
                <a:latin typeface="맑은 고딕" pitchFamily="34" charset="0"/>
                <a:ea typeface="맑은 고딕" pitchFamily="34" charset="-122"/>
                <a:cs typeface="맑은 고딕" pitchFamily="34" charset="-120"/>
              </a:rPr>
              <a:t>01</a:t>
            </a:r>
            <a:endParaRPr lang="en-US" sz="2400" dirty="0"/>
          </a:p>
        </p:txBody>
      </p:sp>
      <p:sp>
        <p:nvSpPr>
          <p:cNvPr id="10" name="Text 7"/>
          <p:cNvSpPr/>
          <p:nvPr/>
        </p:nvSpPr>
        <p:spPr>
          <a:xfrm>
            <a:off x="1645920" y="1828800"/>
            <a:ext cx="9601200" cy="457200"/>
          </a:xfrm>
          <a:prstGeom prst="rect">
            <a:avLst/>
          </a:prstGeom>
          <a:noFill/>
          <a:ln/>
        </p:spPr>
        <p:txBody>
          <a:bodyPr wrap="square" rtlCol="0" anchor="ctr"/>
          <a:lstStyle/>
          <a:p>
            <a:pPr indent="0" marL="0">
              <a:buNone/>
            </a:pPr>
            <a:r>
              <a:rPr lang="en-US" sz="2200" b="1" dirty="0">
                <a:solidFill>
                  <a:srgbClr val="0B1F3A"/>
                </a:solidFill>
                <a:latin typeface="맑은 고딕" pitchFamily="34" charset="0"/>
                <a:ea typeface="맑은 고딕" pitchFamily="34" charset="-122"/>
                <a:cs typeface="맑은 고딕" pitchFamily="34" charset="-120"/>
              </a:rPr>
              <a:t>데이터 기반 경제 운항 판단</a:t>
            </a:r>
            <a:endParaRPr lang="en-US" sz="2200" dirty="0"/>
          </a:p>
        </p:txBody>
      </p:sp>
      <p:sp>
        <p:nvSpPr>
          <p:cNvPr id="11" name="Text 8"/>
          <p:cNvSpPr/>
          <p:nvPr/>
        </p:nvSpPr>
        <p:spPr>
          <a:xfrm>
            <a:off x="1645920" y="2286000"/>
            <a:ext cx="9784080"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Noon Report 학습으로 항로·연료 모드별 항차 비용 비교 — 일일 연료비 오차 MLP 최저 ($1,596)</a:t>
            </a:r>
            <a:endParaRPr lang="en-US" sz="1400" dirty="0"/>
          </a:p>
        </p:txBody>
      </p:sp>
      <p:sp>
        <p:nvSpPr>
          <p:cNvPr id="12" name="Text 9"/>
          <p:cNvSpPr/>
          <p:nvPr/>
        </p:nvSpPr>
        <p:spPr>
          <a:xfrm>
            <a:off x="731520" y="2926080"/>
            <a:ext cx="822960" cy="548640"/>
          </a:xfrm>
          <a:prstGeom prst="rect">
            <a:avLst/>
          </a:prstGeom>
          <a:noFill/>
          <a:ln/>
        </p:spPr>
        <p:txBody>
          <a:bodyPr wrap="square" rtlCol="0" anchor="ctr"/>
          <a:lstStyle/>
          <a:p>
            <a:pPr indent="0" marL="0">
              <a:buNone/>
            </a:pPr>
            <a:r>
              <a:rPr lang="en-US" sz="2400" b="1" dirty="0">
                <a:solidFill>
                  <a:srgbClr val="1D5FD1"/>
                </a:solidFill>
                <a:latin typeface="맑은 고딕" pitchFamily="34" charset="0"/>
                <a:ea typeface="맑은 고딕" pitchFamily="34" charset="-122"/>
                <a:cs typeface="맑은 고딕" pitchFamily="34" charset="-120"/>
              </a:rPr>
              <a:t>02</a:t>
            </a:r>
            <a:endParaRPr lang="en-US" sz="2400" dirty="0"/>
          </a:p>
        </p:txBody>
      </p:sp>
      <p:sp>
        <p:nvSpPr>
          <p:cNvPr id="13" name="Text 10"/>
          <p:cNvSpPr/>
          <p:nvPr/>
        </p:nvSpPr>
        <p:spPr>
          <a:xfrm>
            <a:off x="1645920" y="2926080"/>
            <a:ext cx="9601200" cy="457200"/>
          </a:xfrm>
          <a:prstGeom prst="rect">
            <a:avLst/>
          </a:prstGeom>
          <a:noFill/>
          <a:ln/>
        </p:spPr>
        <p:txBody>
          <a:bodyPr wrap="square" rtlCol="0" anchor="ctr"/>
          <a:lstStyle/>
          <a:p>
            <a:pPr indent="0" marL="0">
              <a:buNone/>
            </a:pPr>
            <a:r>
              <a:rPr lang="en-US" sz="2200" b="1" dirty="0">
                <a:solidFill>
                  <a:srgbClr val="0B1F3A"/>
                </a:solidFill>
                <a:latin typeface="맑은 고딕" pitchFamily="34" charset="0"/>
                <a:ea typeface="맑은 고딕" pitchFamily="34" charset="-122"/>
                <a:cs typeface="맑은 고딕" pitchFamily="34" charset="-120"/>
              </a:rPr>
              <a:t>사전학습 모델 + 현장 규칙</a:t>
            </a:r>
            <a:endParaRPr lang="en-US" sz="2200" dirty="0"/>
          </a:p>
        </p:txBody>
      </p:sp>
      <p:sp>
        <p:nvSpPr>
          <p:cNvPr id="14" name="Text 11"/>
          <p:cNvSpPr/>
          <p:nvPr/>
        </p:nvSpPr>
        <p:spPr>
          <a:xfrm>
            <a:off x="1645920" y="3383280"/>
            <a:ext cx="9784080"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작업 유형 판별 89% (직접 학습 79%) · 안전모 판정 79% → 96%</a:t>
            </a:r>
            <a:endParaRPr lang="en-US" sz="1400" dirty="0"/>
          </a:p>
        </p:txBody>
      </p:sp>
      <p:sp>
        <p:nvSpPr>
          <p:cNvPr id="15" name="Text 12"/>
          <p:cNvSpPr/>
          <p:nvPr/>
        </p:nvSpPr>
        <p:spPr>
          <a:xfrm>
            <a:off x="731520" y="4023360"/>
            <a:ext cx="822960" cy="548640"/>
          </a:xfrm>
          <a:prstGeom prst="rect">
            <a:avLst/>
          </a:prstGeom>
          <a:noFill/>
          <a:ln/>
        </p:spPr>
        <p:txBody>
          <a:bodyPr wrap="square" rtlCol="0" anchor="ctr"/>
          <a:lstStyle/>
          <a:p>
            <a:pPr indent="0" marL="0">
              <a:buNone/>
            </a:pPr>
            <a:r>
              <a:rPr lang="en-US" sz="2400" b="1" dirty="0">
                <a:solidFill>
                  <a:srgbClr val="1D5FD1"/>
                </a:solidFill>
                <a:latin typeface="맑은 고딕" pitchFamily="34" charset="0"/>
                <a:ea typeface="맑은 고딕" pitchFamily="34" charset="-122"/>
                <a:cs typeface="맑은 고딕" pitchFamily="34" charset="-120"/>
              </a:rPr>
              <a:t>03</a:t>
            </a:r>
            <a:endParaRPr lang="en-US" sz="2400" dirty="0"/>
          </a:p>
        </p:txBody>
      </p:sp>
      <p:sp>
        <p:nvSpPr>
          <p:cNvPr id="16" name="Text 13"/>
          <p:cNvSpPr/>
          <p:nvPr/>
        </p:nvSpPr>
        <p:spPr>
          <a:xfrm>
            <a:off x="1645920" y="4023360"/>
            <a:ext cx="9601200" cy="457200"/>
          </a:xfrm>
          <a:prstGeom prst="rect">
            <a:avLst/>
          </a:prstGeom>
          <a:noFill/>
          <a:ln/>
        </p:spPr>
        <p:txBody>
          <a:bodyPr wrap="square" rtlCol="0" anchor="ctr"/>
          <a:lstStyle/>
          <a:p>
            <a:pPr indent="0" marL="0">
              <a:buNone/>
            </a:pPr>
            <a:r>
              <a:rPr lang="en-US" sz="2200" b="1" dirty="0">
                <a:solidFill>
                  <a:srgbClr val="0B1F3A"/>
                </a:solidFill>
                <a:latin typeface="맑은 고딕" pitchFamily="34" charset="0"/>
                <a:ea typeface="맑은 고딕" pitchFamily="34" charset="-122"/>
                <a:cs typeface="맑은 고딕" pitchFamily="34" charset="-120"/>
              </a:rPr>
              <a:t>현장 데이터 확보가 관건</a:t>
            </a:r>
            <a:endParaRPr lang="en-US" sz="2200" dirty="0"/>
          </a:p>
        </p:txBody>
      </p:sp>
      <p:sp>
        <p:nvSpPr>
          <p:cNvPr id="17" name="Text 14"/>
          <p:cNvSpPr/>
          <p:nvPr/>
        </p:nvSpPr>
        <p:spPr>
          <a:xfrm>
            <a:off x="1645920" y="4480560"/>
            <a:ext cx="9784080"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운항 항로 · 계약 조건 · 실선 CCTV 데이터 확보가 다음 단계</a:t>
            </a:r>
            <a:endParaRPr lang="en-US" sz="1400" dirty="0"/>
          </a:p>
        </p:txBody>
      </p:sp>
      <p:sp>
        <p:nvSpPr>
          <p:cNvPr id="18" name="Shape 15"/>
          <p:cNvSpPr/>
          <p:nvPr/>
        </p:nvSpPr>
        <p:spPr>
          <a:xfrm>
            <a:off x="731520" y="5257800"/>
            <a:ext cx="10728655" cy="0"/>
          </a:xfrm>
          <a:prstGeom prst="line">
            <a:avLst/>
          </a:prstGeom>
          <a:noFill/>
          <a:ln w="12700">
            <a:solidFill>
              <a:srgbClr val="D9DEE7"/>
            </a:solidFill>
            <a:prstDash val="solid"/>
          </a:ln>
        </p:spPr>
      </p:sp>
      <p:sp>
        <p:nvSpPr>
          <p:cNvPr id="19" name="Text 16"/>
          <p:cNvSpPr/>
          <p:nvPr/>
        </p:nvSpPr>
        <p:spPr>
          <a:xfrm>
            <a:off x="731520" y="5440680"/>
            <a:ext cx="5486400" cy="640080"/>
          </a:xfrm>
          <a:prstGeom prst="rect">
            <a:avLst/>
          </a:prstGeom>
          <a:noFill/>
          <a:ln/>
        </p:spPr>
        <p:txBody>
          <a:bodyPr wrap="square" rtlCol="0" anchor="ctr"/>
          <a:lstStyle/>
          <a:p>
            <a:pPr indent="0" marL="0">
              <a:buNone/>
            </a:pPr>
            <a:r>
              <a:rPr lang="en-US" sz="2800" b="1" dirty="0">
                <a:solidFill>
                  <a:srgbClr val="0B1F3A"/>
                </a:solidFill>
                <a:latin typeface="맑은 고딕" pitchFamily="34" charset="0"/>
                <a:ea typeface="맑은 고딕" pitchFamily="34" charset="-122"/>
                <a:cs typeface="맑은 고딕" pitchFamily="34" charset="-120"/>
              </a:rPr>
              <a:t>감사합니다</a:t>
            </a:r>
            <a:endParaRPr lang="en-US" sz="2800" dirty="0"/>
          </a:p>
        </p:txBody>
      </p:sp>
      <p:sp>
        <p:nvSpPr>
          <p:cNvPr id="20" name="Text 17"/>
          <p:cNvSpPr/>
          <p:nvPr/>
        </p:nvSpPr>
        <p:spPr>
          <a:xfrm>
            <a:off x="8716975" y="5440680"/>
            <a:ext cx="2743200" cy="640080"/>
          </a:xfrm>
          <a:prstGeom prst="rect">
            <a:avLst/>
          </a:prstGeom>
          <a:noFill/>
          <a:ln/>
        </p:spPr>
        <p:txBody>
          <a:bodyPr wrap="square" rtlCol="0" anchor="ctr"/>
          <a:lstStyle/>
          <a:p>
            <a:pPr algn="r" indent="0" marL="0">
              <a:buNone/>
            </a:pPr>
            <a:r>
              <a:rPr lang="en-US" sz="2800" b="1" dirty="0">
                <a:solidFill>
                  <a:srgbClr val="1D5FD1"/>
                </a:solidFill>
                <a:latin typeface="맑은 고딕" pitchFamily="34" charset="0"/>
                <a:ea typeface="맑은 고딕" pitchFamily="34" charset="-122"/>
                <a:cs typeface="맑은 고딕" pitchFamily="34" charset="-120"/>
              </a:rPr>
              <a:t>Q &amp; A</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선박·운항 분야의 딥러닝 활용</dc:title>
  <dc:subject>PptxGenJS Presentation</dc:subject>
  <dc:creator>PptxGenJS</dc:creator>
  <cp:lastModifiedBy>PptxGenJS</cp:lastModifiedBy>
  <cp:revision>1</cp:revision>
  <dcterms:created xsi:type="dcterms:W3CDTF">2026-10-16T01:18:45Z</dcterms:created>
  <dcterms:modified xsi:type="dcterms:W3CDTF">2026-10-16T01:18:45Z</dcterms:modified>
</cp:coreProperties>
</file>